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6.xml" ContentType="application/vnd.openxmlformats-officedocument.presentationml.notesSlide+xml"/>
  <Override PartName="/ppt/charts/chart3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4E17DAA9-26CB-B5CD-9DA1-BFAD152A5EFD}">
          <p14:sldIdLst>
            <p14:sldId id="256"/>
            <p14:sldId id="257"/>
            <p14:sldId id="258"/>
            <p14:sldId id="259"/>
          </p14:sldIdLst>
        </p14:section>
        <p14:section name="Körbevezetés" id="{B0F95153-0D30-2F28-733C-4F42D1221E75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Technika" id="{6556D098-AE9F-930A-EC5E-3B66163B84FB}">
          <p14:sldIdLst>
            <p14:sldId id="267"/>
            <p14:sldId id="268"/>
            <p14:sldId id="269"/>
            <p14:sldId id="270"/>
            <p14:sldId id="271"/>
          </p14:sldIdLst>
        </p14:section>
        <p14:section name="Csapatmunka" id="{97CAC03D-E1A2-C7F5-CE37-F906A0B64987}">
          <p14:sldIdLst>
            <p14:sldId id="272"/>
            <p14:sldId id="273"/>
            <p14:sldId id="274"/>
            <p14:sldId id="275"/>
            <p14:sldId id="276"/>
          </p14:sldIdLst>
        </p14:section>
        <p14:section name="MI a projektben" id="{2C7B98F0-AF40-D506-EA2F-D761651FDDBC}">
          <p14:sldIdLst>
            <p14:sldId id="277"/>
            <p14:sldId id="278"/>
            <p14:sldId id="279"/>
            <p14:sldId id="280"/>
            <p14:sldId id="281"/>
          </p14:sldIdLst>
        </p14:section>
        <p14:section name="Zárás" id="{DE918B7B-3208-CD89-A239-73EC81D6D7D5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Végleges kód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A35C"/>
              </a:solidFill>
              <a:ln w="25400" cap="flat">
                <a:solidFill>
                  <a:srgbClr val="1C1C1C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13-4D02-95E4-0845D8AFCCD5}"/>
              </c:ext>
            </c:extLst>
          </c:dPt>
          <c:dPt>
            <c:idx val="1"/>
            <c:bubble3D val="0"/>
            <c:spPr>
              <a:solidFill>
                <a:srgbClr val="EC551E"/>
              </a:solidFill>
              <a:ln w="25400" cap="flat">
                <a:solidFill>
                  <a:srgbClr val="1C1C1C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13-4D02-95E4-0845D8AFCCD5}"/>
              </c:ext>
            </c:extLst>
          </c:dPt>
          <c:cat>
            <c:strRef>
              <c:f>Sheet1!$A$2:$A$3</c:f>
              <c:strCache>
                <c:ptCount val="2"/>
                <c:pt idx="0">
                  <c:v>Saját kód</c:v>
                </c:pt>
                <c:pt idx="1">
                  <c:v>MI által írt vagy módosított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13-4D02-95E4-0845D8AFC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Saját kód</c:v>
                </c:pt>
              </c:strCache>
            </c:strRef>
          </c:tx>
          <c:spPr>
            <a:solidFill>
              <a:srgbClr val="2FA35C"/>
            </a:solidFill>
            <a:ln w="19050" cap="flat">
              <a:solidFill>
                <a:srgbClr val="1C1C1C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80%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EC0-4F45-8B3A-BF87EC99B9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68%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EC0-4F45-8B3A-BF87EC99B92F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JavaScript</c:v>
                </c:pt>
                <c:pt idx="1">
                  <c:v>CSS</c:v>
                </c:pt>
                <c:pt idx="2">
                  <c:v>HTML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60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C0-4F45-8B3A-BF87EC99B9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</c:v>
                </c:pt>
              </c:strCache>
            </c:strRef>
          </c:tx>
          <c:spPr>
            <a:solidFill>
              <a:srgbClr val="EC551E"/>
            </a:solidFill>
            <a:ln w="19050" cap="flat">
              <a:solidFill>
                <a:srgbClr val="1C1C1C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EC0-4F45-8B3A-BF87EC99B9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32%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EC0-4F45-8B3A-BF87EC99B92F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JavaScript</c:v>
                </c:pt>
                <c:pt idx="1">
                  <c:v>CSS</c:v>
                </c:pt>
                <c:pt idx="2">
                  <c:v>HTML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40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C0-4F45-8B3A-BF87EC99B92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MI-arány</c:v>
                </c:pt>
              </c:strCache>
            </c:strRef>
          </c:tx>
          <c:spPr>
            <a:solidFill>
              <a:srgbClr val="EC551E"/>
            </a:solidFill>
            <a:effectLst/>
          </c:spPr>
          <c:invertIfNegative val="0"/>
          <c:dLbls>
            <c:dLbl>
              <c:idx val="1"/>
              <c:layout>
                <c:manualLayout>
                  <c:x val="-2.886002886002886E-2"/>
                  <c:y val="2.75027502750275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29-4B4A-A8BF-15CCE5407EF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32%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C29-4B4A-A8BF-15CCE5407EF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20%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C29-4B4A-A8BF-15CCE5407EF4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1">
                  <c:v>A kód dokumentációja</c:v>
                </c:pt>
                <c:pt idx="2">
                  <c:v>Végleges CSS</c:v>
                </c:pt>
                <c:pt idx="3">
                  <c:v>Végleges HTML</c:v>
                </c:pt>
                <c:pt idx="4">
                  <c:v>Végleges JavaScript</c:v>
                </c:pt>
                <c:pt idx="5">
                  <c:v>Eredeti oldalak és osztályok</c:v>
                </c:pt>
                <c:pt idx="6">
                  <c:v>Ötlet és oldalfelosztás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100</c:v>
                </c:pt>
                <c:pt idx="2">
                  <c:v>40</c:v>
                </c:pt>
                <c:pt idx="3">
                  <c:v>28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29-4B4A-A8BF-15CCE5407E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majorGridlines>
          <c:spPr>
            <a:ln w="9525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5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Sziasztok! Ez a Statify, a csapatunk e-sport követő weboldala. A következő percekben megmutatjuk, mit tud az oldal, hogyan épül fel, és ki mit csinált a projektben.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Röviden arról, mi vár ma rátok: bemutatjuk a csapatot, körbevezetünk az oldalon, megnézzük, mi van a felület mögött, beszélünk a csapatmunkáról és arról, miben segített az MI, végül összefoglalunk.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A Statify célja, hogy az e-sport rajongónak ne kelljen öt oldalt végignéznie. Három fő része van: a játékos-nyilvántartó, a meccsek idővonala és a fiókrendszer.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Hárman dolgoztunk a projekten, és mindhármunk neve Z-vel kezdődik. Zoltán a főoldalt, a regisztrációt és a három oldal összefésülését vitte. Zsolt a meccsek oldalát és a Meccs osztályt készítette. Zalán a játékos-nyilvántartó dashboardot, a Jatekos és Csapat osztályokkal.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Nézzük meg az oldalt működés közben, oldalanként.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Az összefésülés után mindhárom oldal ugyanazt a menüt, belépőablakot és láblécet használja, és egyetlen közös stíluslapból dolgozik. Így bármelyik oldalon be lehet jelentkezni, és minden oldal egyforma érzést 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A főoldal fejlécében a Slick képváltó fut, alatta a bemutatkozó szöveg, egy kiemelt rész, ami magától vált a sztárjátékosok és csapatok között, végül a hírlevél-feliratkozás, ami egyből a regisztrációs ablakot nyitja meg.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Zalán.
A Játékosok oldal egy csapatkezelő. A keretbe legfeljebb 8 játékos fér, egyszerre 5 lehet aktív, és a fizetéseknek bele kell férniük a 60 ezer eurós keretbe. Ezeket a szabályokat a Csapat osztály ellenőrzi, és ha valami nem fér bele, értesítő üzenetben jelez.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Zalán.
Minden játékos kap egy betűjegyet a HLTV-ratingje alapján, A plusztól C-ig, és ez a szín végigkíséri a sorát. A winrate melletti kis diagramra kattintva nyílik ez az adatlap, ahol egy nagyobb, kódból rajzolt SVG-diagram mutatja a teljesítmény alakulását.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Zsolt.
A Meccsek oldalon a meccsek időrendben, egy idővonalon sorakoznak. Az állapotot a Meccs osztály számolja ki a kezdési időből: közelgő, folyamatban vagy lezajlott. Kártyára kattintva nyílik a részletek ablak a két csapat játékosaival és az állással; pontot csak élő meccsnél lehet adni.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A regisztráció minden mezőt azonnal ellenőriz, és a hibát közvetlenül a mező alatt írja ki. Sikeres regisztráció után az ablak átvált bejelentkezésre, a felhasználónév már ki van töltve. A jelszót az Account osztály privát mezőben tárolja, így semmilyen kód nem tudja kiolvasni.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Zalán.
Most nézzük meg, mi van a felület mögött.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Zalán.
Az oldal sima HTML, CSS és JavaScript, keretrendszer nélkül. A Bootstrap adja a rácsot és az ablakokat, a jQuery az eseménykezelést. A diagramokat SVG-ben, kódból rajzoljuk, a főoldal képváltója pedig a Slick bővítmény.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Zalán.
A Csapat legfeljebb 8 Jatekos objektumot tárol, és ő ellenőrzi a keretszabályokat. A Meccs osztály a meccseket írja le; mindkét oldalnak saját változata van. Az Account egy felhasználó, az AccountStore pedig a regisztrált fiókokat és a bejelentkezett felhasználót kezeli. Minden adat privát mezőben van, kívülről csak gettereken át érhető 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Zsolt.
Telefonon a menü egy hamburger gomb mögé kerül, a játékostáblázat sorai kártyákká alakulnak, a meccsek idővonala pedig vízszintesből függőlegesbe fordul. Ugyanaz a HTML, csak a CSS dönti el a képernyőméret alapján, hogyan jelenjen meg.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Zsolt.
Néhány szám a végeredményről: három oldal, nyolc JavaScript-osztály, több mint 4700 sor kód, és a képek tömörítésével 40 százalékkal kisebb lett az oldal, így gyorsabban betölt.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Zsolt.
A kód mellett legalább ilyen fontos volt, hogyan dolgoztunk együtt. Erről szól a következő néhány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Zsolt.
Először közösen megterveztük, mit tudjon az oldal és hogyan nézzen ki. Utána mindenki kapott egy saját oldalt, így párhuzamosan tudtunk dolgozni. A végén a három részt egy közös keretbe fésültük össze.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Bár mindenki a saját oldalán dolgozott, sok ponton találkoztak a részeink. A közös fejlécet és a belépőablakot a Meccsek és a Játékosok oldalba is be kellett építeni, a meccseket pedig Zsolt és Zalán is a saját oldalához igazítva írta meg.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Zalán.
Néhány egyszerű szabály sokat segített: egy közös arculat, mindenkinek saját fájlok, egy közös stíluslap, és rendszeres egyeztetés arról, ki hol 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Zsolt.
Jól működött, hogy mindenkinek világos volt a saját része, így gyorsan haladtunk. Legközelebb viszont már az elején egyeztetnénk az elnevezéseket, a közös menüt és belépőablakot előre elkészítenénk, és verziókezelést használnánk, hogy az összefésülés egyszerűbb legyen.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Fontosnak tartjuk, hogy nyíltan elmondjuk: a projekt egyes részeinél mesterséges intelligenciát is használtunk. Megmutatjuk, mit csináltunk mi, és miben segített az 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Az oldal ötlete, a felosztás, az eredeti kód és az osztályok tőlünk származnak. Az MI-t, a Claude-ot, az összefésüléshez, a fordításhoz, a hibajavításokhoz, a képek tömörítéséhez, a kód dokumentálásához és ehhez a bemutatóhoz használtuk.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Zalán.
Az MI-nek mindig konkrét feladatot adtunk, és a változtatásokat ellenőriztük. A döntés végig nálunk maradt: például a JavaScript-fájlokat visszaállíttattuk a saját, eredeti változatunkra, az MI csak a szövegeket fordította le bennük.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Zalán.
Megmértük, a végleges kód mekkora része tér el a feltöltött eredeti változattól. Összesen nagyjából 22 százalékot írt vagy módosított az MI. A JavaScriptben ez csak 5 százalék, mert ott a saját fájljainkat állítottuk vissza, és csak a szövegek lettek lefordítva. A CSS-ben a legnagyobb, 40 százalék, mert ott történt az összefésülés és a mobilos javítások nagy része.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Feladatonként is megnéztük. Az ötlet, az oldalak felosztása és az eredeti kód a miénk. A végleges kódban az MI-arány 5 és 40 százalék között van. A kód dokumentációja és ez a bemutató viszont teljesen MI-vel készült, a mi kéréseink alapján.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Zoltán.
Az összefésülésnél több akadályba is belefutottunk: oldalanként más menü és belépőablak, hibát dobó belépés a Játékosok oldalon, mobilon szétcsúszó táblázat és nehéz képek. Mindegyikre egyszerű, közös megoldást találtunk.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Előadó: Zsolt.
A következő lépés egy saját backend adatbázissal, hogy a bejelentkezés oldalváltás után is megmaradjon. Utána valódi meccsadatokat töltenénk be API-ból, bővítenénk további játékokkal, és értesítést küldenénk a kedvenc csapat meccseiről.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Mindhárman.
Köszönjük, hogy meghallgattatok! Szívesen válaszolunk a kérdésekre, és élőben is megmutatjuk az oldalt.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3172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kern="0" spc="4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6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jezetci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46120" y="2514600"/>
            <a:ext cx="8229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24612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talo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r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3063240"/>
            <a:ext cx="1036015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fy logó" descr="Statify log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822960"/>
            <a:ext cx="2194560" cy="146304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317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400" dirty="0">
                <a:solidFill>
                  <a:schemeClr val="accent1"/>
                </a:solidFill>
              </a:rPr>
              <a:t>STATIFY</a:t>
            </a:r>
            <a:endParaRPr lang="en-US" sz="66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 jobb módja az e-sport élvezetének</a:t>
            </a:r>
            <a:endParaRPr lang="en-US" sz="2400" dirty="0"/>
          </a:p>
        </p:txBody>
      </p:sp>
      <p:sp>
        <p:nvSpPr>
          <p:cNvPr id="5" name="címke FŐOLDAL"/>
          <p:cNvSpPr txBox="1"/>
          <p:nvPr/>
        </p:nvSpPr>
        <p:spPr>
          <a:xfrm>
            <a:off x="731520" y="4800600"/>
            <a:ext cx="1737360" cy="45720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FŐOLDAL</a:t>
            </a:r>
            <a:endParaRPr lang="en-US" sz="1400" dirty="0"/>
          </a:p>
        </p:txBody>
      </p:sp>
      <p:sp>
        <p:nvSpPr>
          <p:cNvPr id="6" name="címke JÁTÉKOSOK"/>
          <p:cNvSpPr txBox="1"/>
          <p:nvPr/>
        </p:nvSpPr>
        <p:spPr>
          <a:xfrm>
            <a:off x="2606040" y="4800600"/>
            <a:ext cx="2011680" cy="45720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JÁTÉKOSOK</a:t>
            </a:r>
            <a:endParaRPr lang="en-US" sz="1400" dirty="0"/>
          </a:p>
        </p:txBody>
      </p:sp>
      <p:sp>
        <p:nvSpPr>
          <p:cNvPr id="7" name="címke MECCSEK"/>
          <p:cNvSpPr txBox="1"/>
          <p:nvPr/>
        </p:nvSpPr>
        <p:spPr>
          <a:xfrm>
            <a:off x="4754880" y="4800600"/>
            <a:ext cx="1737360" cy="45720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MECCSEK</a:t>
            </a:r>
            <a:endParaRPr lang="en-US" sz="1400" dirty="0"/>
          </a:p>
        </p:txBody>
      </p:sp>
      <p:sp>
        <p:nvSpPr>
          <p:cNvPr id="8" name="böngészőablak"/>
          <p:cNvSpPr/>
          <p:nvPr/>
        </p:nvSpPr>
        <p:spPr>
          <a:xfrm>
            <a:off x="6903720" y="1417320"/>
            <a:ext cx="4754880" cy="3355848"/>
          </a:xfrm>
          <a:prstGeom prst="roundRect">
            <a:avLst>
              <a:gd name="adj" fmla="val 2725"/>
            </a:avLst>
          </a:prstGeom>
          <a:solidFill>
            <a:schemeClr val="tx2"/>
          </a:solidFill>
          <a:ln w="12700">
            <a:solidFill>
              <a:srgbClr val="3A3A3A"/>
            </a:solidFill>
            <a:prstDash val="solid"/>
          </a:ln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blakgomb 1"/>
          <p:cNvSpPr/>
          <p:nvPr/>
        </p:nvSpPr>
        <p:spPr>
          <a:xfrm>
            <a:off x="7050024" y="15544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ablakgomb 2"/>
          <p:cNvSpPr/>
          <p:nvPr/>
        </p:nvSpPr>
        <p:spPr>
          <a:xfrm>
            <a:off x="7232904" y="15544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ablakgomb 3"/>
          <p:cNvSpPr/>
          <p:nvPr/>
        </p:nvSpPr>
        <p:spPr>
          <a:xfrm>
            <a:off x="7415784" y="15544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ímsor"/>
          <p:cNvSpPr txBox="1"/>
          <p:nvPr/>
        </p:nvSpPr>
        <p:spPr>
          <a:xfrm>
            <a:off x="7726680" y="1499616"/>
            <a:ext cx="3291840" cy="237744"/>
          </a:xfrm>
          <a:prstGeom prst="roundRect">
            <a:avLst>
              <a:gd name="adj" fmla="val 38462"/>
            </a:avLst>
          </a:prstGeom>
          <a:solidFill>
            <a:schemeClr val="tx1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statify / index.html</a:t>
            </a:r>
            <a:endParaRPr lang="en-US" sz="1000" dirty="0"/>
          </a:p>
        </p:txBody>
      </p:sp>
      <p:pic>
        <p:nvPicPr>
          <p:cNvPr id="13" name="képernyőkép statify / index.html" descr="képernyőkép statify / index.htm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1819656"/>
            <a:ext cx="4608576" cy="28803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Tartalomjegyzék</a:t>
            </a:r>
            <a:endParaRPr lang="en-US" sz="3200" dirty="0"/>
          </a:p>
        </p:txBody>
      </p:sp>
      <p:sp>
        <p:nvSpPr>
          <p:cNvPr id="3" name="fejezet Bevezetés"/>
          <p:cNvSpPr/>
          <p:nvPr/>
        </p:nvSpPr>
        <p:spPr>
          <a:xfrm>
            <a:off x="548640" y="1463040"/>
            <a:ext cx="541324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címke "/>
          <p:cNvSpPr txBox="1"/>
          <p:nvPr/>
        </p:nvSpPr>
        <p:spPr>
          <a:xfrm>
            <a:off x="822960" y="1847088"/>
            <a:ext cx="960120" cy="603504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5" name="Bevezetés ikon" descr="Bevezetés 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993392"/>
            <a:ext cx="310896" cy="310896"/>
          </a:xfrm>
          <a:prstGeom prst="rect">
            <a:avLst/>
          </a:prstGeom>
        </p:spPr>
      </p:pic>
      <p:sp>
        <p:nvSpPr>
          <p:cNvPr id="6" name="elem"/>
          <p:cNvSpPr txBox="1"/>
          <p:nvPr/>
        </p:nvSpPr>
        <p:spPr>
          <a:xfrm>
            <a:off x="2011680" y="1709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Bevezetés</a:t>
            </a:r>
            <a:endParaRPr lang="en-US" sz="1900" dirty="0"/>
          </a:p>
        </p:txBody>
      </p:sp>
      <p:sp>
        <p:nvSpPr>
          <p:cNvPr id="7" name="elem"/>
          <p:cNvSpPr txBox="1"/>
          <p:nvPr/>
        </p:nvSpPr>
        <p:spPr>
          <a:xfrm>
            <a:off x="2011680" y="2167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Miről szól a Statify, és kik vagyunk</a:t>
            </a:r>
            <a:endParaRPr lang="en-US" sz="1400" dirty="0"/>
          </a:p>
        </p:txBody>
      </p:sp>
      <p:sp>
        <p:nvSpPr>
          <p:cNvPr id="8" name="fejezet Körbevezetés az oldalon"/>
          <p:cNvSpPr/>
          <p:nvPr/>
        </p:nvSpPr>
        <p:spPr>
          <a:xfrm>
            <a:off x="6227064" y="1463040"/>
            <a:ext cx="541324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címke 01"/>
          <p:cNvSpPr txBox="1"/>
          <p:nvPr/>
        </p:nvSpPr>
        <p:spPr>
          <a:xfrm>
            <a:off x="6501384" y="1847088"/>
            <a:ext cx="960120" cy="603504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elem"/>
          <p:cNvSpPr txBox="1"/>
          <p:nvPr/>
        </p:nvSpPr>
        <p:spPr>
          <a:xfrm>
            <a:off x="7690104" y="1709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Körbevezetés az oldalon</a:t>
            </a:r>
            <a:endParaRPr lang="en-US" sz="1900" dirty="0"/>
          </a:p>
        </p:txBody>
      </p:sp>
      <p:sp>
        <p:nvSpPr>
          <p:cNvPr id="11" name="elem"/>
          <p:cNvSpPr txBox="1"/>
          <p:nvPr/>
        </p:nvSpPr>
        <p:spPr>
          <a:xfrm>
            <a:off x="7690104" y="2167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Főoldal, Játékosok, Meccsek, regisztráció</a:t>
            </a:r>
            <a:endParaRPr lang="en-US" sz="1400" dirty="0"/>
          </a:p>
        </p:txBody>
      </p:sp>
      <p:sp>
        <p:nvSpPr>
          <p:cNvPr id="12" name="fejezet A motorháztető alatt"/>
          <p:cNvSpPr/>
          <p:nvPr/>
        </p:nvSpPr>
        <p:spPr>
          <a:xfrm>
            <a:off x="548640" y="3108960"/>
            <a:ext cx="541324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címke 02"/>
          <p:cNvSpPr txBox="1"/>
          <p:nvPr/>
        </p:nvSpPr>
        <p:spPr>
          <a:xfrm>
            <a:off x="822960" y="3493008"/>
            <a:ext cx="960120" cy="603504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elem"/>
          <p:cNvSpPr txBox="1"/>
          <p:nvPr/>
        </p:nvSpPr>
        <p:spPr>
          <a:xfrm>
            <a:off x="2011680" y="3355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 motorháztető alatt</a:t>
            </a:r>
            <a:endParaRPr lang="en-US" sz="1900" dirty="0"/>
          </a:p>
        </p:txBody>
      </p:sp>
      <p:sp>
        <p:nvSpPr>
          <p:cNvPr id="15" name="elem"/>
          <p:cNvSpPr txBox="1"/>
          <p:nvPr/>
        </p:nvSpPr>
        <p:spPr>
          <a:xfrm>
            <a:off x="2011680" y="3813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Technológiák, osztálymodell, mobilnézet, számok</a:t>
            </a:r>
            <a:endParaRPr lang="en-US" sz="1400" dirty="0"/>
          </a:p>
        </p:txBody>
      </p:sp>
      <p:sp>
        <p:nvSpPr>
          <p:cNvPr id="16" name="fejezet Csapatmunka"/>
          <p:cNvSpPr/>
          <p:nvPr/>
        </p:nvSpPr>
        <p:spPr>
          <a:xfrm>
            <a:off x="6227064" y="3108960"/>
            <a:ext cx="541324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címke 03"/>
          <p:cNvSpPr txBox="1"/>
          <p:nvPr/>
        </p:nvSpPr>
        <p:spPr>
          <a:xfrm>
            <a:off x="6501384" y="3493008"/>
            <a:ext cx="960120" cy="603504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elem"/>
          <p:cNvSpPr txBox="1"/>
          <p:nvPr/>
        </p:nvSpPr>
        <p:spPr>
          <a:xfrm>
            <a:off x="7690104" y="3355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Csapatmunka</a:t>
            </a:r>
            <a:endParaRPr lang="en-US" sz="1900" dirty="0"/>
          </a:p>
        </p:txBody>
      </p:sp>
      <p:sp>
        <p:nvSpPr>
          <p:cNvPr id="19" name="elem"/>
          <p:cNvSpPr txBox="1"/>
          <p:nvPr/>
        </p:nvSpPr>
        <p:spPr>
          <a:xfrm>
            <a:off x="7690104" y="3813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Hogyan dolgoztunk együtt, és mit tanultunk</a:t>
            </a:r>
            <a:endParaRPr lang="en-US" sz="1400" dirty="0"/>
          </a:p>
        </p:txBody>
      </p:sp>
      <p:sp>
        <p:nvSpPr>
          <p:cNvPr id="20" name="fejezet Mesterséges intelligencia"/>
          <p:cNvSpPr/>
          <p:nvPr/>
        </p:nvSpPr>
        <p:spPr>
          <a:xfrm>
            <a:off x="548640" y="4754880"/>
            <a:ext cx="541324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ímke 04"/>
          <p:cNvSpPr txBox="1"/>
          <p:nvPr/>
        </p:nvSpPr>
        <p:spPr>
          <a:xfrm>
            <a:off x="822960" y="5138928"/>
            <a:ext cx="960120" cy="603504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elem"/>
          <p:cNvSpPr txBox="1"/>
          <p:nvPr/>
        </p:nvSpPr>
        <p:spPr>
          <a:xfrm>
            <a:off x="2011680" y="5001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Mesterséges intelligencia</a:t>
            </a:r>
            <a:endParaRPr lang="en-US" sz="1900" dirty="0"/>
          </a:p>
        </p:txBody>
      </p:sp>
      <p:sp>
        <p:nvSpPr>
          <p:cNvPr id="23" name="elem"/>
          <p:cNvSpPr txBox="1"/>
          <p:nvPr/>
        </p:nvSpPr>
        <p:spPr>
          <a:xfrm>
            <a:off x="2011680" y="5458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Miben segített az MI, és mekkora arányban</a:t>
            </a:r>
            <a:endParaRPr lang="en-US" sz="1400" dirty="0"/>
          </a:p>
        </p:txBody>
      </p:sp>
      <p:sp>
        <p:nvSpPr>
          <p:cNvPr id="24" name="fejezet Zárás"/>
          <p:cNvSpPr/>
          <p:nvPr/>
        </p:nvSpPr>
        <p:spPr>
          <a:xfrm>
            <a:off x="6227064" y="4754880"/>
            <a:ext cx="5413248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címke "/>
          <p:cNvSpPr txBox="1"/>
          <p:nvPr/>
        </p:nvSpPr>
        <p:spPr>
          <a:xfrm>
            <a:off x="6501384" y="5138928"/>
            <a:ext cx="960120" cy="603504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26" name="Zárás ikon" descr="Zárás 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5285232"/>
            <a:ext cx="310896" cy="310896"/>
          </a:xfrm>
          <a:prstGeom prst="rect">
            <a:avLst/>
          </a:prstGeom>
        </p:spPr>
      </p:pic>
      <p:sp>
        <p:nvSpPr>
          <p:cNvPr id="27" name="elem"/>
          <p:cNvSpPr txBox="1"/>
          <p:nvPr/>
        </p:nvSpPr>
        <p:spPr>
          <a:xfrm>
            <a:off x="7690104" y="5001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Zárás</a:t>
            </a:r>
            <a:endParaRPr lang="en-US" sz="1900" dirty="0"/>
          </a:p>
        </p:txBody>
      </p:sp>
      <p:sp>
        <p:nvSpPr>
          <p:cNvPr id="28" name="elem"/>
          <p:cNvSpPr txBox="1"/>
          <p:nvPr/>
        </p:nvSpPr>
        <p:spPr>
          <a:xfrm>
            <a:off x="7690104" y="5458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Kihívások, tervek, kérdések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Miről szól a Statify?</a:t>
            </a:r>
            <a:endParaRPr lang="en-US" sz="3200" dirty="0"/>
          </a:p>
        </p:txBody>
      </p:sp>
      <p:sp>
        <p:nvSpPr>
          <p:cNvPr id="3" name="elem"/>
          <p:cNvSpPr txBox="1"/>
          <p:nvPr/>
        </p:nvSpPr>
        <p:spPr>
          <a:xfrm>
            <a:off x="548640" y="15087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Minden fontos e-sport adat – egy helyen.</a:t>
            </a:r>
            <a:endParaRPr lang="en-US" sz="2800" dirty="0"/>
          </a:p>
        </p:txBody>
      </p:sp>
      <p:sp>
        <p:nvSpPr>
          <p:cNvPr id="4" name="elem"/>
          <p:cNvSpPr txBox="1"/>
          <p:nvPr/>
        </p:nvSpPr>
        <p:spPr>
          <a:xfrm>
            <a:off x="548640" y="2788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2"/>
                </a:solidFill>
              </a:rPr>
              <a:t>Rajongóknak, játékosoknak és csapatoknak készült weboldal: meccsek, játékosstatisztikák és csapatkezelés egyetlen, gyors és mobilon is kényelmes felületen.</a:t>
            </a:r>
            <a:endParaRPr lang="en-US" sz="1700" dirty="0"/>
          </a:p>
        </p:txBody>
      </p:sp>
      <p:pic>
        <p:nvPicPr>
          <p:cNvPr id="5" name="aréna fotó" descr="aréna fotó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4160520"/>
            <a:ext cx="5394960" cy="2148840"/>
          </a:xfrm>
          <a:prstGeom prst="rect">
            <a:avLst/>
          </a:prstGeom>
        </p:spPr>
      </p:pic>
      <p:sp>
        <p:nvSpPr>
          <p:cNvPr id="6" name="pillér Játékosok"/>
          <p:cNvSpPr/>
          <p:nvPr/>
        </p:nvSpPr>
        <p:spPr>
          <a:xfrm>
            <a:off x="6492240" y="1600200"/>
            <a:ext cx="514807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Játékosok kör"/>
          <p:cNvSpPr/>
          <p:nvPr/>
        </p:nvSpPr>
        <p:spPr>
          <a:xfrm>
            <a:off x="6720840" y="1847088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Játékosok" descr="Játékos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2052828"/>
            <a:ext cx="411480" cy="411480"/>
          </a:xfrm>
          <a:prstGeom prst="rect">
            <a:avLst/>
          </a:prstGeom>
        </p:spPr>
      </p:pic>
      <p:sp>
        <p:nvSpPr>
          <p:cNvPr id="9" name="elem"/>
          <p:cNvSpPr txBox="1"/>
          <p:nvPr/>
        </p:nvSpPr>
        <p:spPr>
          <a:xfrm>
            <a:off x="777240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Játékosok</a:t>
            </a:r>
            <a:endParaRPr lang="en-US" sz="2000" dirty="0"/>
          </a:p>
        </p:txBody>
      </p:sp>
      <p:sp>
        <p:nvSpPr>
          <p:cNvPr id="10" name="elem"/>
          <p:cNvSpPr txBox="1"/>
          <p:nvPr/>
        </p:nvSpPr>
        <p:spPr>
          <a:xfrm>
            <a:off x="777240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Keret, statisztikák és szerződések egyetlen dashboardon</a:t>
            </a:r>
            <a:endParaRPr lang="en-US" sz="1500" dirty="0"/>
          </a:p>
        </p:txBody>
      </p:sp>
      <p:sp>
        <p:nvSpPr>
          <p:cNvPr id="11" name="pillér Meccsek"/>
          <p:cNvSpPr/>
          <p:nvPr/>
        </p:nvSpPr>
        <p:spPr>
          <a:xfrm>
            <a:off x="6492240" y="3200400"/>
            <a:ext cx="514807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Meccsek kör"/>
          <p:cNvSpPr/>
          <p:nvPr/>
        </p:nvSpPr>
        <p:spPr>
          <a:xfrm>
            <a:off x="6720840" y="3447288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Meccsek" descr="Meccse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580" y="3653028"/>
            <a:ext cx="411480" cy="411480"/>
          </a:xfrm>
          <a:prstGeom prst="rect">
            <a:avLst/>
          </a:prstGeom>
        </p:spPr>
      </p:pic>
      <p:sp>
        <p:nvSpPr>
          <p:cNvPr id="14" name="elem"/>
          <p:cNvSpPr txBox="1"/>
          <p:nvPr/>
        </p:nvSpPr>
        <p:spPr>
          <a:xfrm>
            <a:off x="7772400" y="34015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Meccsek</a:t>
            </a:r>
            <a:endParaRPr lang="en-US" sz="2000" dirty="0"/>
          </a:p>
        </p:txBody>
      </p:sp>
      <p:sp>
        <p:nvSpPr>
          <p:cNvPr id="15" name="elem"/>
          <p:cNvSpPr txBox="1"/>
          <p:nvPr/>
        </p:nvSpPr>
        <p:spPr>
          <a:xfrm>
            <a:off x="77724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Közelgő és lejátszott meccsek idővonalon, élő pontozással</a:t>
            </a:r>
            <a:endParaRPr lang="en-US" sz="1500" dirty="0"/>
          </a:p>
        </p:txBody>
      </p:sp>
      <p:sp>
        <p:nvSpPr>
          <p:cNvPr id="16" name="pillér Fiók"/>
          <p:cNvSpPr/>
          <p:nvPr/>
        </p:nvSpPr>
        <p:spPr>
          <a:xfrm>
            <a:off x="6492240" y="4800600"/>
            <a:ext cx="514807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Fiók kör"/>
          <p:cNvSpPr/>
          <p:nvPr/>
        </p:nvSpPr>
        <p:spPr>
          <a:xfrm>
            <a:off x="6720840" y="5047488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Fiók" descr="Fió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580" y="5253228"/>
            <a:ext cx="411480" cy="411480"/>
          </a:xfrm>
          <a:prstGeom prst="rect">
            <a:avLst/>
          </a:prstGeom>
        </p:spPr>
      </p:pic>
      <p:sp>
        <p:nvSpPr>
          <p:cNvPr id="19" name="elem"/>
          <p:cNvSpPr txBox="1"/>
          <p:nvPr/>
        </p:nvSpPr>
        <p:spPr>
          <a:xfrm>
            <a:off x="7772400" y="5001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Fiók</a:t>
            </a:r>
            <a:endParaRPr lang="en-US" sz="2000" dirty="0"/>
          </a:p>
        </p:txBody>
      </p:sp>
      <p:sp>
        <p:nvSpPr>
          <p:cNvPr id="20" name="elem"/>
          <p:cNvSpPr txBox="1"/>
          <p:nvPr/>
        </p:nvSpPr>
        <p:spPr>
          <a:xfrm>
            <a:off x="7772400" y="5440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Regisztráció és bejelentkezés azonnali hibajelzéssel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 csapat: három Z, egy cél</a:t>
            </a:r>
            <a:endParaRPr lang="en-US" sz="3200" dirty="0"/>
          </a:p>
        </p:txBody>
      </p:sp>
      <p:sp>
        <p:nvSpPr>
          <p:cNvPr id="3" name="kártya Zoltán"/>
          <p:cNvSpPr/>
          <p:nvPr/>
        </p:nvSpPr>
        <p:spPr>
          <a:xfrm>
            <a:off x="548640" y="1463040"/>
            <a:ext cx="3520440" cy="49377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monogram Zoltán"/>
          <p:cNvSpPr txBox="1"/>
          <p:nvPr/>
        </p:nvSpPr>
        <p:spPr>
          <a:xfrm>
            <a:off x="868680" y="17830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</a:t>
            </a:r>
            <a:endParaRPr lang="en-US" sz="2600" dirty="0"/>
          </a:p>
        </p:txBody>
      </p:sp>
      <p:sp>
        <p:nvSpPr>
          <p:cNvPr id="5" name="elem"/>
          <p:cNvSpPr txBox="1"/>
          <p:nvPr/>
        </p:nvSpPr>
        <p:spPr>
          <a:xfrm>
            <a:off x="20574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Zoltán</a:t>
            </a:r>
            <a:endParaRPr lang="en-US" sz="2400" dirty="0"/>
          </a:p>
        </p:txBody>
      </p:sp>
      <p:sp>
        <p:nvSpPr>
          <p:cNvPr id="6" name="elem"/>
          <p:cNvSpPr txBox="1"/>
          <p:nvPr/>
        </p:nvSpPr>
        <p:spPr>
          <a:xfrm>
            <a:off x="205740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Főoldal, fiókrendszer és összefésülés</a:t>
            </a:r>
            <a:endParaRPr lang="en-US" sz="1400" dirty="0"/>
          </a:p>
        </p:txBody>
      </p:sp>
      <p:sp>
        <p:nvSpPr>
          <p:cNvPr id="7" name="elem"/>
          <p:cNvSpPr txBox="1"/>
          <p:nvPr/>
        </p:nvSpPr>
        <p:spPr>
          <a:xfrm>
            <a:off x="868680" y="301752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Főoldal: képváltó, kiemelt rész, hírlevél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Regisztráció és belépés (Account)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Közös menü, lábléc, stíluslap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három oldal egységesítése</a:t>
            </a:r>
            <a:endParaRPr lang="en-US" sz="1500" dirty="0"/>
          </a:p>
        </p:txBody>
      </p:sp>
      <p:sp>
        <p:nvSpPr>
          <p:cNvPr id="8" name="elem"/>
          <p:cNvSpPr txBox="1"/>
          <p:nvPr/>
        </p:nvSpPr>
        <p:spPr>
          <a:xfrm>
            <a:off x="86868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FÁJLOK</a:t>
            </a:r>
            <a:endParaRPr lang="en-US" sz="1200" dirty="0"/>
          </a:p>
        </p:txBody>
      </p:sp>
      <p:sp>
        <p:nvSpPr>
          <p:cNvPr id="9" name="fájl index.html"/>
          <p:cNvSpPr txBox="1"/>
          <p:nvPr/>
        </p:nvSpPr>
        <p:spPr>
          <a:xfrm>
            <a:off x="868680" y="5138928"/>
            <a:ext cx="118872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0" name="fájl account.js"/>
          <p:cNvSpPr txBox="1"/>
          <p:nvPr/>
        </p:nvSpPr>
        <p:spPr>
          <a:xfrm>
            <a:off x="2148840" y="5138928"/>
            <a:ext cx="118872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account.js</a:t>
            </a:r>
            <a:endParaRPr lang="en-US" sz="1200" dirty="0"/>
          </a:p>
        </p:txBody>
      </p:sp>
      <p:sp>
        <p:nvSpPr>
          <p:cNvPr id="11" name="fájl accountManagement.js"/>
          <p:cNvSpPr txBox="1"/>
          <p:nvPr/>
        </p:nvSpPr>
        <p:spPr>
          <a:xfrm>
            <a:off x="868680" y="5522976"/>
            <a:ext cx="210312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accountManagement.js</a:t>
            </a:r>
            <a:endParaRPr lang="en-US" sz="1200" dirty="0"/>
          </a:p>
        </p:txBody>
      </p:sp>
      <p:sp>
        <p:nvSpPr>
          <p:cNvPr id="12" name="fájl fooldal.js"/>
          <p:cNvSpPr txBox="1"/>
          <p:nvPr/>
        </p:nvSpPr>
        <p:spPr>
          <a:xfrm>
            <a:off x="868680" y="5907024"/>
            <a:ext cx="118872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fooldal.js</a:t>
            </a:r>
            <a:endParaRPr lang="en-US" sz="1200" dirty="0"/>
          </a:p>
        </p:txBody>
      </p:sp>
      <p:sp>
        <p:nvSpPr>
          <p:cNvPr id="13" name="kártya Zsolt"/>
          <p:cNvSpPr/>
          <p:nvPr/>
        </p:nvSpPr>
        <p:spPr>
          <a:xfrm>
            <a:off x="4334256" y="1463040"/>
            <a:ext cx="3520440" cy="49377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monogram Zsolt"/>
          <p:cNvSpPr txBox="1"/>
          <p:nvPr/>
        </p:nvSpPr>
        <p:spPr>
          <a:xfrm>
            <a:off x="4654296" y="17830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ZS</a:t>
            </a:r>
            <a:endParaRPr lang="en-US" sz="2600" dirty="0"/>
          </a:p>
        </p:txBody>
      </p:sp>
      <p:sp>
        <p:nvSpPr>
          <p:cNvPr id="15" name="elem"/>
          <p:cNvSpPr txBox="1"/>
          <p:nvPr/>
        </p:nvSpPr>
        <p:spPr>
          <a:xfrm>
            <a:off x="5843016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Zsolt</a:t>
            </a:r>
            <a:endParaRPr lang="en-US" sz="2400" dirty="0"/>
          </a:p>
        </p:txBody>
      </p:sp>
      <p:sp>
        <p:nvSpPr>
          <p:cNvPr id="16" name="elem"/>
          <p:cNvSpPr txBox="1"/>
          <p:nvPr/>
        </p:nvSpPr>
        <p:spPr>
          <a:xfrm>
            <a:off x="5843016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Meccsek oldal</a:t>
            </a:r>
            <a:endParaRPr lang="en-US" sz="1400" dirty="0"/>
          </a:p>
        </p:txBody>
      </p:sp>
      <p:sp>
        <p:nvSpPr>
          <p:cNvPr id="17" name="elem"/>
          <p:cNvSpPr txBox="1"/>
          <p:nvPr/>
        </p:nvSpPr>
        <p:spPr>
          <a:xfrm>
            <a:off x="4654296" y="301752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Vízszintes idővonal, mobilon függőleges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Meccs osztály: közelgő, élő, lezajlott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Meccsrészletek ablak, élő pontozás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Reszponzív meccskártyák</a:t>
            </a:r>
            <a:endParaRPr lang="en-US" sz="1500" dirty="0"/>
          </a:p>
        </p:txBody>
      </p:sp>
      <p:sp>
        <p:nvSpPr>
          <p:cNvPr id="18" name="elem"/>
          <p:cNvSpPr txBox="1"/>
          <p:nvPr/>
        </p:nvSpPr>
        <p:spPr>
          <a:xfrm>
            <a:off x="4654296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FÁJLOK</a:t>
            </a:r>
            <a:endParaRPr lang="en-US" sz="1200" dirty="0"/>
          </a:p>
        </p:txBody>
      </p:sp>
      <p:sp>
        <p:nvSpPr>
          <p:cNvPr id="19" name="fájl matches.html"/>
          <p:cNvSpPr txBox="1"/>
          <p:nvPr/>
        </p:nvSpPr>
        <p:spPr>
          <a:xfrm>
            <a:off x="4654296" y="5138928"/>
            <a:ext cx="137160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matches.html</a:t>
            </a:r>
            <a:endParaRPr lang="en-US" sz="1200" dirty="0"/>
          </a:p>
        </p:txBody>
      </p:sp>
      <p:sp>
        <p:nvSpPr>
          <p:cNvPr id="20" name="fájl meccs.js"/>
          <p:cNvSpPr txBox="1"/>
          <p:nvPr/>
        </p:nvSpPr>
        <p:spPr>
          <a:xfrm>
            <a:off x="6117336" y="5138928"/>
            <a:ext cx="100584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meccs.js</a:t>
            </a:r>
            <a:endParaRPr lang="en-US" sz="1200" dirty="0"/>
          </a:p>
        </p:txBody>
      </p:sp>
      <p:sp>
        <p:nvSpPr>
          <p:cNvPr id="21" name="fájl app.js"/>
          <p:cNvSpPr txBox="1"/>
          <p:nvPr/>
        </p:nvSpPr>
        <p:spPr>
          <a:xfrm>
            <a:off x="4654296" y="5522976"/>
            <a:ext cx="82296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200" dirty="0"/>
          </a:p>
        </p:txBody>
      </p:sp>
      <p:sp>
        <p:nvSpPr>
          <p:cNvPr id="22" name="kártya Zalán"/>
          <p:cNvSpPr/>
          <p:nvPr/>
        </p:nvSpPr>
        <p:spPr>
          <a:xfrm>
            <a:off x="8119872" y="1463040"/>
            <a:ext cx="3520440" cy="49377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monogram Zalán"/>
          <p:cNvSpPr txBox="1"/>
          <p:nvPr/>
        </p:nvSpPr>
        <p:spPr>
          <a:xfrm>
            <a:off x="8439912" y="17830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</a:t>
            </a:r>
            <a:endParaRPr lang="en-US" sz="2600" dirty="0"/>
          </a:p>
        </p:txBody>
      </p:sp>
      <p:sp>
        <p:nvSpPr>
          <p:cNvPr id="24" name="elem"/>
          <p:cNvSpPr txBox="1"/>
          <p:nvPr/>
        </p:nvSpPr>
        <p:spPr>
          <a:xfrm>
            <a:off x="9628632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Zalán</a:t>
            </a:r>
            <a:endParaRPr lang="en-US" sz="2400" dirty="0"/>
          </a:p>
        </p:txBody>
      </p:sp>
      <p:sp>
        <p:nvSpPr>
          <p:cNvPr id="25" name="elem"/>
          <p:cNvSpPr txBox="1"/>
          <p:nvPr/>
        </p:nvSpPr>
        <p:spPr>
          <a:xfrm>
            <a:off x="9628632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Játékos-nyilvántartó</a:t>
            </a:r>
            <a:endParaRPr lang="en-US" sz="1400" dirty="0"/>
          </a:p>
        </p:txBody>
      </p:sp>
      <p:sp>
        <p:nvSpPr>
          <p:cNvPr id="26" name="elem"/>
          <p:cNvSpPr txBox="1"/>
          <p:nvPr/>
        </p:nvSpPr>
        <p:spPr>
          <a:xfrm>
            <a:off x="8439912" y="301752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Jatekos és Csapat osztály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Keretszabályok, fizetési keret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Betűjegyek, SVG-diagramok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Szerződések, scrim, értesítők</a:t>
            </a:r>
            <a:endParaRPr lang="en-US" sz="1500" dirty="0"/>
          </a:p>
        </p:txBody>
      </p:sp>
      <p:sp>
        <p:nvSpPr>
          <p:cNvPr id="27" name="elem"/>
          <p:cNvSpPr txBox="1"/>
          <p:nvPr/>
        </p:nvSpPr>
        <p:spPr>
          <a:xfrm>
            <a:off x="8439912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2"/>
                </a:solidFill>
              </a:rPr>
              <a:t>FÁJLOK</a:t>
            </a:r>
            <a:endParaRPr lang="en-US" sz="1200" dirty="0"/>
          </a:p>
        </p:txBody>
      </p:sp>
      <p:sp>
        <p:nvSpPr>
          <p:cNvPr id="28" name="fájl players.html"/>
          <p:cNvSpPr txBox="1"/>
          <p:nvPr/>
        </p:nvSpPr>
        <p:spPr>
          <a:xfrm>
            <a:off x="8439912" y="5138928"/>
            <a:ext cx="137160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players.html</a:t>
            </a:r>
            <a:endParaRPr lang="en-US" sz="1200" dirty="0"/>
          </a:p>
        </p:txBody>
      </p:sp>
      <p:sp>
        <p:nvSpPr>
          <p:cNvPr id="29" name="fájl script.js"/>
          <p:cNvSpPr txBox="1"/>
          <p:nvPr/>
        </p:nvSpPr>
        <p:spPr>
          <a:xfrm>
            <a:off x="9902952" y="513892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200" dirty="0"/>
          </a:p>
        </p:txBody>
      </p:sp>
      <p:sp>
        <p:nvSpPr>
          <p:cNvPr id="30" name="fájl Jatekos.js"/>
          <p:cNvSpPr txBox="1"/>
          <p:nvPr/>
        </p:nvSpPr>
        <p:spPr>
          <a:xfrm>
            <a:off x="8439912" y="5522976"/>
            <a:ext cx="118872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Jatekos.js</a:t>
            </a:r>
            <a:endParaRPr lang="en-US" sz="1200" dirty="0"/>
          </a:p>
        </p:txBody>
      </p:sp>
      <p:sp>
        <p:nvSpPr>
          <p:cNvPr id="31" name="fájl Csapat.js"/>
          <p:cNvSpPr txBox="1"/>
          <p:nvPr/>
        </p:nvSpPr>
        <p:spPr>
          <a:xfrm>
            <a:off x="9720072" y="5522976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Csapat.js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ke 01"/>
          <p:cNvSpPr txBox="1"/>
          <p:nvPr/>
        </p:nvSpPr>
        <p:spPr>
          <a:xfrm>
            <a:off x="731520" y="2331720"/>
            <a:ext cx="2194560" cy="192024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46120" y="2514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Körbevezetés az oldalon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324612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Főoldal • Játékosok • Meccsek • Fiók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Egy közös keret, három oldal</a:t>
            </a:r>
            <a:endParaRPr lang="en-US" sz="3200" dirty="0"/>
          </a:p>
        </p:txBody>
      </p:sp>
      <p:sp>
        <p:nvSpPr>
          <p:cNvPr id="3" name="közös keret"/>
          <p:cNvSpPr/>
          <p:nvPr/>
        </p:nvSpPr>
        <p:spPr>
          <a:xfrm>
            <a:off x="548640" y="1554480"/>
            <a:ext cx="11091672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közös keret kör"/>
          <p:cNvSpPr/>
          <p:nvPr/>
        </p:nvSpPr>
        <p:spPr>
          <a:xfrm>
            <a:off x="822960" y="1719072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közös keret" descr="közös ker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24812"/>
            <a:ext cx="411480" cy="411480"/>
          </a:xfrm>
          <a:prstGeom prst="rect">
            <a:avLst/>
          </a:prstGeom>
        </p:spPr>
      </p:pic>
      <p:sp>
        <p:nvSpPr>
          <p:cNvPr id="6" name="elem"/>
          <p:cNvSpPr txBox="1"/>
          <p:nvPr/>
        </p:nvSpPr>
        <p:spPr>
          <a:xfrm>
            <a:off x="1874520" y="17190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KÖZÖS KERET – minden oldalon ugyanaz</a:t>
            </a:r>
            <a:endParaRPr lang="en-US" sz="1800" dirty="0"/>
          </a:p>
        </p:txBody>
      </p:sp>
      <p:sp>
        <p:nvSpPr>
          <p:cNvPr id="7" name="elem"/>
          <p:cNvSpPr txBox="1"/>
          <p:nvPr/>
        </p:nvSpPr>
        <p:spPr>
          <a:xfrm>
            <a:off x="1874520" y="2121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Navigáció hamburger menüvel  •  Belépés / regisztráció ablak  •  Lábléc  •  style.css  •  accountManagement.js</a:t>
            </a:r>
            <a:endParaRPr lang="en-US" sz="1500" dirty="0"/>
          </a:p>
        </p:txBody>
      </p:sp>
      <p:sp>
        <p:nvSpPr>
          <p:cNvPr id="8" name="összekötő Főoldal"/>
          <p:cNvSpPr/>
          <p:nvPr/>
        </p:nvSpPr>
        <p:spPr>
          <a:xfrm>
            <a:off x="2308860" y="2697480"/>
            <a:ext cx="0" cy="4572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ldal Főoldal"/>
          <p:cNvSpPr/>
          <p:nvPr/>
        </p:nvSpPr>
        <p:spPr>
          <a:xfrm>
            <a:off x="548640" y="315468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Főoldal kör"/>
          <p:cNvSpPr/>
          <p:nvPr/>
        </p:nvSpPr>
        <p:spPr>
          <a:xfrm>
            <a:off x="868680" y="3429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Főoldal" descr="Főold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611880"/>
            <a:ext cx="365760" cy="365760"/>
          </a:xfrm>
          <a:prstGeom prst="rect">
            <a:avLst/>
          </a:prstGeom>
        </p:spPr>
      </p:pic>
      <p:sp>
        <p:nvSpPr>
          <p:cNvPr id="12" name="elem"/>
          <p:cNvSpPr txBox="1"/>
          <p:nvPr/>
        </p:nvSpPr>
        <p:spPr>
          <a:xfrm>
            <a:off x="1783080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Főoldal</a:t>
            </a:r>
            <a:endParaRPr lang="en-US" sz="2000" dirty="0"/>
          </a:p>
        </p:txBody>
      </p:sp>
      <p:sp>
        <p:nvSpPr>
          <p:cNvPr id="13" name="elem"/>
          <p:cNvSpPr txBox="1"/>
          <p:nvPr/>
        </p:nvSpPr>
        <p:spPr>
          <a:xfrm>
            <a:off x="178308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14" name="elem"/>
          <p:cNvSpPr txBox="1"/>
          <p:nvPr/>
        </p:nvSpPr>
        <p:spPr>
          <a:xfrm>
            <a:off x="868680" y="4480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Képváltó a fejlécben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Kiemelt játékos / csapat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Hírlevél-feliratkozás</a:t>
            </a:r>
            <a:endParaRPr lang="en-US" sz="1600" dirty="0"/>
          </a:p>
        </p:txBody>
      </p:sp>
      <p:sp>
        <p:nvSpPr>
          <p:cNvPr id="15" name="összekötő Játékosok"/>
          <p:cNvSpPr/>
          <p:nvPr/>
        </p:nvSpPr>
        <p:spPr>
          <a:xfrm>
            <a:off x="6094476" y="2697480"/>
            <a:ext cx="0" cy="4572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ldal Játékosok"/>
          <p:cNvSpPr/>
          <p:nvPr/>
        </p:nvSpPr>
        <p:spPr>
          <a:xfrm>
            <a:off x="4334256" y="315468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Játékosok kör"/>
          <p:cNvSpPr/>
          <p:nvPr/>
        </p:nvSpPr>
        <p:spPr>
          <a:xfrm>
            <a:off x="4654296" y="3429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Játékosok" descr="Játékos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3611880"/>
            <a:ext cx="365760" cy="365760"/>
          </a:xfrm>
          <a:prstGeom prst="rect">
            <a:avLst/>
          </a:prstGeom>
        </p:spPr>
      </p:pic>
      <p:sp>
        <p:nvSpPr>
          <p:cNvPr id="19" name="elem"/>
          <p:cNvSpPr txBox="1"/>
          <p:nvPr/>
        </p:nvSpPr>
        <p:spPr>
          <a:xfrm>
            <a:off x="5568696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Játékosok</a:t>
            </a:r>
            <a:endParaRPr lang="en-US" sz="2000" dirty="0"/>
          </a:p>
        </p:txBody>
      </p:sp>
      <p:sp>
        <p:nvSpPr>
          <p:cNvPr id="20" name="elem"/>
          <p:cNvSpPr txBox="1"/>
          <p:nvPr/>
        </p:nvSpPr>
        <p:spPr>
          <a:xfrm>
            <a:off x="5568696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players.html</a:t>
            </a:r>
            <a:endParaRPr lang="en-US" sz="1300" dirty="0"/>
          </a:p>
        </p:txBody>
      </p:sp>
      <p:sp>
        <p:nvSpPr>
          <p:cNvPr id="21" name="elem"/>
          <p:cNvSpPr txBox="1"/>
          <p:nvPr/>
        </p:nvSpPr>
        <p:spPr>
          <a:xfrm>
            <a:off x="4654296" y="4480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Csapatkezelő dashboard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Játékos adatlap, diagram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Szerződések, scrimek</a:t>
            </a:r>
            <a:endParaRPr lang="en-US" sz="1600" dirty="0"/>
          </a:p>
        </p:txBody>
      </p:sp>
      <p:sp>
        <p:nvSpPr>
          <p:cNvPr id="22" name="összekötő Meccsek"/>
          <p:cNvSpPr/>
          <p:nvPr/>
        </p:nvSpPr>
        <p:spPr>
          <a:xfrm>
            <a:off x="9880092" y="2697480"/>
            <a:ext cx="0" cy="4572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ldal Meccsek"/>
          <p:cNvSpPr/>
          <p:nvPr/>
        </p:nvSpPr>
        <p:spPr>
          <a:xfrm>
            <a:off x="8119872" y="315468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Meccsek kör"/>
          <p:cNvSpPr/>
          <p:nvPr/>
        </p:nvSpPr>
        <p:spPr>
          <a:xfrm>
            <a:off x="8439912" y="3429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Meccsek" descr="Meccse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3611880"/>
            <a:ext cx="365760" cy="365760"/>
          </a:xfrm>
          <a:prstGeom prst="rect">
            <a:avLst/>
          </a:prstGeom>
        </p:spPr>
      </p:pic>
      <p:sp>
        <p:nvSpPr>
          <p:cNvPr id="26" name="elem"/>
          <p:cNvSpPr txBox="1"/>
          <p:nvPr/>
        </p:nvSpPr>
        <p:spPr>
          <a:xfrm>
            <a:off x="9354312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Meccsek</a:t>
            </a:r>
            <a:endParaRPr lang="en-US" sz="2000" dirty="0"/>
          </a:p>
        </p:txBody>
      </p:sp>
      <p:sp>
        <p:nvSpPr>
          <p:cNvPr id="27" name="elem"/>
          <p:cNvSpPr txBox="1"/>
          <p:nvPr/>
        </p:nvSpPr>
        <p:spPr>
          <a:xfrm>
            <a:off x="9354312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matches.html</a:t>
            </a:r>
            <a:endParaRPr lang="en-US" sz="1300" dirty="0"/>
          </a:p>
        </p:txBody>
      </p:sp>
      <p:sp>
        <p:nvSpPr>
          <p:cNvPr id="28" name="elem"/>
          <p:cNvSpPr txBox="1"/>
          <p:nvPr/>
        </p:nvSpPr>
        <p:spPr>
          <a:xfrm>
            <a:off x="8439912" y="44805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Idővonal a meccsekkel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Közelgő / élő / lezajlott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Élő pontozás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Főoldal – az első benyomás</a:t>
            </a:r>
            <a:endParaRPr lang="en-US" sz="3200" dirty="0"/>
          </a:p>
        </p:txBody>
      </p:sp>
      <p:sp>
        <p:nvSpPr>
          <p:cNvPr id="3" name="böngészőablak"/>
          <p:cNvSpPr/>
          <p:nvPr/>
        </p:nvSpPr>
        <p:spPr>
          <a:xfrm>
            <a:off x="548640" y="1463040"/>
            <a:ext cx="7223760" cy="4898898"/>
          </a:xfrm>
          <a:prstGeom prst="roundRect">
            <a:avLst>
              <a:gd name="adj" fmla="val 1867"/>
            </a:avLst>
          </a:prstGeom>
          <a:solidFill>
            <a:schemeClr val="tx2"/>
          </a:solidFill>
          <a:ln w="12700">
            <a:solidFill>
              <a:srgbClr val="3A3A3A"/>
            </a:solidFill>
            <a:prstDash val="solid"/>
          </a:ln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blakgomb 1"/>
          <p:cNvSpPr/>
          <p:nvPr/>
        </p:nvSpPr>
        <p:spPr>
          <a:xfrm>
            <a:off x="694944" y="160020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ablakgomb 2"/>
          <p:cNvSpPr/>
          <p:nvPr/>
        </p:nvSpPr>
        <p:spPr>
          <a:xfrm>
            <a:off x="877824" y="160020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ablakgomb 3"/>
          <p:cNvSpPr/>
          <p:nvPr/>
        </p:nvSpPr>
        <p:spPr>
          <a:xfrm>
            <a:off x="1060704" y="160020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címsor"/>
          <p:cNvSpPr txBox="1"/>
          <p:nvPr/>
        </p:nvSpPr>
        <p:spPr>
          <a:xfrm>
            <a:off x="1371600" y="1545336"/>
            <a:ext cx="3291840" cy="237744"/>
          </a:xfrm>
          <a:prstGeom prst="roundRect">
            <a:avLst>
              <a:gd name="adj" fmla="val 38462"/>
            </a:avLst>
          </a:prstGeom>
          <a:solidFill>
            <a:schemeClr val="tx1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statify / index.html</a:t>
            </a:r>
            <a:endParaRPr lang="en-US" sz="1000" dirty="0"/>
          </a:p>
        </p:txBody>
      </p:sp>
      <p:pic>
        <p:nvPicPr>
          <p:cNvPr id="8" name="képernyőkép statify / index.html" descr="képernyőkép statify / index.htm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65376"/>
            <a:ext cx="7077456" cy="4423410"/>
          </a:xfrm>
          <a:prstGeom prst="rect">
            <a:avLst/>
          </a:prstGeom>
        </p:spPr>
      </p:pic>
      <p:sp>
        <p:nvSpPr>
          <p:cNvPr id="9" name="Képváltó kör"/>
          <p:cNvSpPr/>
          <p:nvPr/>
        </p:nvSpPr>
        <p:spPr>
          <a:xfrm>
            <a:off x="818388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Képváltó" descr="Képváltó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330" y="1771650"/>
            <a:ext cx="342900" cy="342900"/>
          </a:xfrm>
          <a:prstGeom prst="rect">
            <a:avLst/>
          </a:prstGeom>
        </p:spPr>
      </p:pic>
      <p:sp>
        <p:nvSpPr>
          <p:cNvPr id="11" name="elem"/>
          <p:cNvSpPr txBox="1"/>
          <p:nvPr/>
        </p:nvSpPr>
        <p:spPr>
          <a:xfrm>
            <a:off x="9052560" y="161848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Képváltó</a:t>
            </a:r>
            <a:endParaRPr lang="en-US" sz="1900" dirty="0"/>
          </a:p>
        </p:txBody>
      </p:sp>
      <p:sp>
        <p:nvSpPr>
          <p:cNvPr id="12" name="elem"/>
          <p:cNvSpPr txBox="1"/>
          <p:nvPr/>
        </p:nvSpPr>
        <p:spPr>
          <a:xfrm>
            <a:off x="9052560" y="2039112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Három fotó váltja egymást 3 másodpercenként, finom áttűnéssel.</a:t>
            </a:r>
            <a:endParaRPr lang="en-US" sz="1500" dirty="0"/>
          </a:p>
        </p:txBody>
      </p:sp>
      <p:sp>
        <p:nvSpPr>
          <p:cNvPr id="13" name="Kiemelt rész kör"/>
          <p:cNvSpPr/>
          <p:nvPr/>
        </p:nvSpPr>
        <p:spPr>
          <a:xfrm>
            <a:off x="8183880" y="3200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Kiemelt rész" descr="Kiemelt rész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330" y="3371850"/>
            <a:ext cx="342900" cy="342900"/>
          </a:xfrm>
          <a:prstGeom prst="rect">
            <a:avLst/>
          </a:prstGeom>
        </p:spPr>
      </p:pic>
      <p:sp>
        <p:nvSpPr>
          <p:cNvPr id="15" name="elem"/>
          <p:cNvSpPr txBox="1"/>
          <p:nvPr/>
        </p:nvSpPr>
        <p:spPr>
          <a:xfrm>
            <a:off x="9052560" y="321868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Kiemelt rész</a:t>
            </a:r>
            <a:endParaRPr lang="en-US" sz="1900" dirty="0"/>
          </a:p>
        </p:txBody>
      </p:sp>
      <p:sp>
        <p:nvSpPr>
          <p:cNvPr id="16" name="elem"/>
          <p:cNvSpPr txBox="1"/>
          <p:nvPr/>
        </p:nvSpPr>
        <p:spPr>
          <a:xfrm>
            <a:off x="9052560" y="3639312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Sztárjátékosok és csapatok váltják egymást a fejléc alatt.</a:t>
            </a:r>
            <a:endParaRPr lang="en-US" sz="1500" dirty="0"/>
          </a:p>
        </p:txBody>
      </p:sp>
      <p:sp>
        <p:nvSpPr>
          <p:cNvPr id="17" name="Hírlevél kör"/>
          <p:cNvSpPr/>
          <p:nvPr/>
        </p:nvSpPr>
        <p:spPr>
          <a:xfrm>
            <a:off x="8183880" y="4800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Hírlevél" descr="Hírlevé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972050"/>
            <a:ext cx="342900" cy="342900"/>
          </a:xfrm>
          <a:prstGeom prst="rect">
            <a:avLst/>
          </a:prstGeom>
        </p:spPr>
      </p:pic>
      <p:sp>
        <p:nvSpPr>
          <p:cNvPr id="19" name="elem"/>
          <p:cNvSpPr txBox="1"/>
          <p:nvPr/>
        </p:nvSpPr>
        <p:spPr>
          <a:xfrm>
            <a:off x="9052560" y="481888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Hírlevél</a:t>
            </a:r>
            <a:endParaRPr lang="en-US" sz="1900" dirty="0"/>
          </a:p>
        </p:txBody>
      </p:sp>
      <p:sp>
        <p:nvSpPr>
          <p:cNvPr id="20" name="elem"/>
          <p:cNvSpPr txBox="1"/>
          <p:nvPr/>
        </p:nvSpPr>
        <p:spPr>
          <a:xfrm>
            <a:off x="9052560" y="5239512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Egy gombnyomás, és már nyílik is a regisztráció.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Játékosok – a csapatkezelő</a:t>
            </a:r>
            <a:endParaRPr lang="en-US" sz="3200" dirty="0"/>
          </a:p>
        </p:txBody>
      </p:sp>
      <p:sp>
        <p:nvSpPr>
          <p:cNvPr id="3" name="szabály fős maximális keret"/>
          <p:cNvSpPr/>
          <p:nvPr/>
        </p:nvSpPr>
        <p:spPr>
          <a:xfrm>
            <a:off x="548640" y="150876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elem"/>
          <p:cNvSpPr txBox="1"/>
          <p:nvPr/>
        </p:nvSpPr>
        <p:spPr>
          <a:xfrm>
            <a:off x="777240" y="16002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3400" dirty="0"/>
          </a:p>
        </p:txBody>
      </p:sp>
      <p:sp>
        <p:nvSpPr>
          <p:cNvPr id="5" name="elem"/>
          <p:cNvSpPr txBox="1"/>
          <p:nvPr/>
        </p:nvSpPr>
        <p:spPr>
          <a:xfrm>
            <a:off x="2240280" y="16002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fős maximális keret</a:t>
            </a:r>
            <a:endParaRPr lang="en-US" sz="1600" dirty="0"/>
          </a:p>
        </p:txBody>
      </p:sp>
      <p:sp>
        <p:nvSpPr>
          <p:cNvPr id="6" name="szabály aktív játékos egyszerre"/>
          <p:cNvSpPr/>
          <p:nvPr/>
        </p:nvSpPr>
        <p:spPr>
          <a:xfrm>
            <a:off x="54864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elem"/>
          <p:cNvSpPr txBox="1"/>
          <p:nvPr/>
        </p:nvSpPr>
        <p:spPr>
          <a:xfrm>
            <a:off x="777240" y="28803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elem"/>
          <p:cNvSpPr txBox="1"/>
          <p:nvPr/>
        </p:nvSpPr>
        <p:spPr>
          <a:xfrm>
            <a:off x="2240280" y="28803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aktív játékos egyszerre</a:t>
            </a:r>
            <a:endParaRPr lang="en-US" sz="1600" dirty="0"/>
          </a:p>
        </p:txBody>
      </p:sp>
      <p:sp>
        <p:nvSpPr>
          <p:cNvPr id="9" name="szabály havi fizetési keret"/>
          <p:cNvSpPr/>
          <p:nvPr/>
        </p:nvSpPr>
        <p:spPr>
          <a:xfrm>
            <a:off x="548640" y="406908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lem"/>
          <p:cNvSpPr txBox="1"/>
          <p:nvPr/>
        </p:nvSpPr>
        <p:spPr>
          <a:xfrm>
            <a:off x="777240" y="41605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€60K</a:t>
            </a:r>
            <a:endParaRPr lang="en-US" sz="3400" dirty="0"/>
          </a:p>
        </p:txBody>
      </p:sp>
      <p:sp>
        <p:nvSpPr>
          <p:cNvPr id="11" name="elem"/>
          <p:cNvSpPr txBox="1"/>
          <p:nvPr/>
        </p:nvSpPr>
        <p:spPr>
          <a:xfrm>
            <a:off x="2240280" y="4160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havi fizetési keret</a:t>
            </a:r>
            <a:endParaRPr lang="en-US" sz="1600" dirty="0"/>
          </a:p>
        </p:txBody>
      </p:sp>
      <p:sp>
        <p:nvSpPr>
          <p:cNvPr id="12" name="elem"/>
          <p:cNvSpPr txBox="1"/>
          <p:nvPr/>
        </p:nvSpPr>
        <p:spPr>
          <a:xfrm>
            <a:off x="548640" y="5440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Szerkesztés, kispadra ültetés, kapcsolatfelvétel, szerződések és scrim-egyeztetés – mind egy kattintásra.</a:t>
            </a:r>
            <a:endParaRPr lang="en-US" sz="1400" dirty="0"/>
          </a:p>
        </p:txBody>
      </p:sp>
      <p:sp>
        <p:nvSpPr>
          <p:cNvPr id="13" name="böngészőablak"/>
          <p:cNvSpPr/>
          <p:nvPr/>
        </p:nvSpPr>
        <p:spPr>
          <a:xfrm>
            <a:off x="4416552" y="1463040"/>
            <a:ext cx="7223760" cy="4898898"/>
          </a:xfrm>
          <a:prstGeom prst="roundRect">
            <a:avLst>
              <a:gd name="adj" fmla="val 1867"/>
            </a:avLst>
          </a:prstGeom>
          <a:solidFill>
            <a:schemeClr val="tx2"/>
          </a:solidFill>
          <a:ln w="12700">
            <a:solidFill>
              <a:srgbClr val="3A3A3A"/>
            </a:solidFill>
            <a:prstDash val="solid"/>
          </a:ln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blakgomb 1"/>
          <p:cNvSpPr/>
          <p:nvPr/>
        </p:nvSpPr>
        <p:spPr>
          <a:xfrm>
            <a:off x="4562856" y="160020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ablakgomb 2"/>
          <p:cNvSpPr/>
          <p:nvPr/>
        </p:nvSpPr>
        <p:spPr>
          <a:xfrm>
            <a:off x="4745736" y="160020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ablakgomb 3"/>
          <p:cNvSpPr/>
          <p:nvPr/>
        </p:nvSpPr>
        <p:spPr>
          <a:xfrm>
            <a:off x="4928616" y="160020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ímsor"/>
          <p:cNvSpPr txBox="1"/>
          <p:nvPr/>
        </p:nvSpPr>
        <p:spPr>
          <a:xfrm>
            <a:off x="5239512" y="1545336"/>
            <a:ext cx="3291840" cy="237744"/>
          </a:xfrm>
          <a:prstGeom prst="roundRect">
            <a:avLst>
              <a:gd name="adj" fmla="val 38462"/>
            </a:avLst>
          </a:prstGeom>
          <a:solidFill>
            <a:schemeClr val="tx1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statify / players.html</a:t>
            </a:r>
            <a:endParaRPr lang="en-US" sz="1000" dirty="0"/>
          </a:p>
        </p:txBody>
      </p:sp>
      <p:pic>
        <p:nvPicPr>
          <p:cNvPr id="18" name="képernyőkép statify / players.html" descr="képernyőkép statify / players.htm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865376"/>
            <a:ext cx="7077456" cy="442341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Játékos adatlap és értékelés</a:t>
            </a:r>
            <a:endParaRPr lang="en-US" sz="3200" dirty="0"/>
          </a:p>
        </p:txBody>
      </p:sp>
      <p:pic>
        <p:nvPicPr>
          <p:cNvPr id="3" name="játékos adatlap" descr="játékos adatl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989320" cy="4810916"/>
          </a:xfrm>
          <a:prstGeom prst="rect">
            <a:avLst/>
          </a:prstGeom>
        </p:spPr>
      </p:pic>
      <p:sp>
        <p:nvSpPr>
          <p:cNvPr id="4" name="elem"/>
          <p:cNvSpPr txBox="1"/>
          <p:nvPr/>
        </p:nvSpPr>
        <p:spPr>
          <a:xfrm>
            <a:off x="7086600" y="1508760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 HLTV-rating betűjeggyé alakul</a:t>
            </a:r>
            <a:endParaRPr lang="en-US" sz="1900" dirty="0"/>
          </a:p>
        </p:txBody>
      </p:sp>
      <p:sp>
        <p:nvSpPr>
          <p:cNvPr id="5" name="címke A+"/>
          <p:cNvSpPr txBox="1"/>
          <p:nvPr/>
        </p:nvSpPr>
        <p:spPr>
          <a:xfrm>
            <a:off x="7086600" y="2103120"/>
            <a:ext cx="1188720" cy="502920"/>
          </a:xfrm>
          <a:prstGeom prst="parallelogram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A+</a:t>
            </a:r>
            <a:endParaRPr lang="en-US" sz="2000" dirty="0"/>
          </a:p>
        </p:txBody>
      </p:sp>
      <p:sp>
        <p:nvSpPr>
          <p:cNvPr id="6" name="elem"/>
          <p:cNvSpPr txBox="1"/>
          <p:nvPr/>
        </p:nvSpPr>
        <p:spPr>
          <a:xfrm>
            <a:off x="850392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1,25 vagy több</a:t>
            </a:r>
            <a:endParaRPr lang="en-US" sz="1700" dirty="0"/>
          </a:p>
        </p:txBody>
      </p:sp>
      <p:sp>
        <p:nvSpPr>
          <p:cNvPr id="7" name="címke A"/>
          <p:cNvSpPr txBox="1"/>
          <p:nvPr/>
        </p:nvSpPr>
        <p:spPr>
          <a:xfrm>
            <a:off x="7086600" y="2788920"/>
            <a:ext cx="1188720" cy="50292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elem"/>
          <p:cNvSpPr txBox="1"/>
          <p:nvPr/>
        </p:nvSpPr>
        <p:spPr>
          <a:xfrm>
            <a:off x="8503920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1,15 – 1,24</a:t>
            </a:r>
            <a:endParaRPr lang="en-US" sz="1700" dirty="0"/>
          </a:p>
        </p:txBody>
      </p:sp>
      <p:sp>
        <p:nvSpPr>
          <p:cNvPr id="9" name="címke B+"/>
          <p:cNvSpPr txBox="1"/>
          <p:nvPr/>
        </p:nvSpPr>
        <p:spPr>
          <a:xfrm>
            <a:off x="7086600" y="3474720"/>
            <a:ext cx="1188720" cy="502920"/>
          </a:xfrm>
          <a:prstGeom prst="parallelogram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B+</a:t>
            </a:r>
            <a:endParaRPr lang="en-US" sz="2000" dirty="0"/>
          </a:p>
        </p:txBody>
      </p:sp>
      <p:sp>
        <p:nvSpPr>
          <p:cNvPr id="10" name="elem"/>
          <p:cNvSpPr txBox="1"/>
          <p:nvPr/>
        </p:nvSpPr>
        <p:spPr>
          <a:xfrm>
            <a:off x="8503920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1,05 – 1,14</a:t>
            </a:r>
            <a:endParaRPr lang="en-US" sz="1700" dirty="0"/>
          </a:p>
        </p:txBody>
      </p:sp>
      <p:sp>
        <p:nvSpPr>
          <p:cNvPr id="11" name="címke B"/>
          <p:cNvSpPr txBox="1"/>
          <p:nvPr/>
        </p:nvSpPr>
        <p:spPr>
          <a:xfrm>
            <a:off x="7086600" y="4160520"/>
            <a:ext cx="1188720" cy="502920"/>
          </a:xfrm>
          <a:prstGeom prst="parallelogram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elem"/>
          <p:cNvSpPr txBox="1"/>
          <p:nvPr/>
        </p:nvSpPr>
        <p:spPr>
          <a:xfrm>
            <a:off x="8503920" y="4160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0,95 – 1,04</a:t>
            </a:r>
            <a:endParaRPr lang="en-US" sz="1700" dirty="0"/>
          </a:p>
        </p:txBody>
      </p:sp>
      <p:sp>
        <p:nvSpPr>
          <p:cNvPr id="13" name="címke C"/>
          <p:cNvSpPr txBox="1"/>
          <p:nvPr/>
        </p:nvSpPr>
        <p:spPr>
          <a:xfrm>
            <a:off x="7086600" y="4846320"/>
            <a:ext cx="1188720" cy="502920"/>
          </a:xfrm>
          <a:prstGeom prst="parallelogram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elem"/>
          <p:cNvSpPr txBox="1"/>
          <p:nvPr/>
        </p:nvSpPr>
        <p:spPr>
          <a:xfrm>
            <a:off x="850392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0,95 alatt</a:t>
            </a:r>
            <a:endParaRPr lang="en-US" sz="1700" dirty="0"/>
          </a:p>
        </p:txBody>
      </p:sp>
      <p:sp>
        <p:nvSpPr>
          <p:cNvPr id="15" name="elem"/>
          <p:cNvSpPr txBox="1"/>
          <p:nvPr/>
        </p:nvSpPr>
        <p:spPr>
          <a:xfrm>
            <a:off x="7086600" y="5623560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winrate-diagramra kattintva nyílik az adatlap: K/D, győzelmek, rating, szerződés és a trend.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Meccsek – minden egy idővonalon</a:t>
            </a:r>
            <a:endParaRPr lang="en-US" sz="3200" dirty="0"/>
          </a:p>
        </p:txBody>
      </p:sp>
      <p:sp>
        <p:nvSpPr>
          <p:cNvPr id="3" name="böngészőablak"/>
          <p:cNvSpPr/>
          <p:nvPr/>
        </p:nvSpPr>
        <p:spPr>
          <a:xfrm>
            <a:off x="548640" y="1463040"/>
            <a:ext cx="6949440" cy="4727448"/>
          </a:xfrm>
          <a:prstGeom prst="roundRect">
            <a:avLst>
              <a:gd name="adj" fmla="val 1934"/>
            </a:avLst>
          </a:prstGeom>
          <a:solidFill>
            <a:schemeClr val="tx2"/>
          </a:solidFill>
          <a:ln w="12700">
            <a:solidFill>
              <a:srgbClr val="3A3A3A"/>
            </a:solidFill>
            <a:prstDash val="solid"/>
          </a:ln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blakgomb 1"/>
          <p:cNvSpPr/>
          <p:nvPr/>
        </p:nvSpPr>
        <p:spPr>
          <a:xfrm>
            <a:off x="694944" y="160020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ablakgomb 2"/>
          <p:cNvSpPr/>
          <p:nvPr/>
        </p:nvSpPr>
        <p:spPr>
          <a:xfrm>
            <a:off x="877824" y="160020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ablakgomb 3"/>
          <p:cNvSpPr/>
          <p:nvPr/>
        </p:nvSpPr>
        <p:spPr>
          <a:xfrm>
            <a:off x="1060704" y="160020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címsor"/>
          <p:cNvSpPr txBox="1"/>
          <p:nvPr/>
        </p:nvSpPr>
        <p:spPr>
          <a:xfrm>
            <a:off x="1371600" y="1545336"/>
            <a:ext cx="3291840" cy="237744"/>
          </a:xfrm>
          <a:prstGeom prst="roundRect">
            <a:avLst>
              <a:gd name="adj" fmla="val 38462"/>
            </a:avLst>
          </a:prstGeom>
          <a:solidFill>
            <a:schemeClr val="tx1"/>
          </a:solidFill>
          <a:ln/>
        </p:spPr>
        <p:txBody>
          <a:bodyPr wrap="square" lIns="101600" tIns="0" rIns="1016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statify / matches.html</a:t>
            </a:r>
            <a:endParaRPr lang="en-US" sz="1000" dirty="0"/>
          </a:p>
        </p:txBody>
      </p:sp>
      <p:pic>
        <p:nvPicPr>
          <p:cNvPr id="8" name="képernyőkép statify / matches.html" descr="képernyőkép statify / matches.htm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56232"/>
            <a:ext cx="6803136" cy="4251960"/>
          </a:xfrm>
          <a:prstGeom prst="rect">
            <a:avLst/>
          </a:prstGeom>
        </p:spPr>
      </p:pic>
      <p:pic>
        <p:nvPicPr>
          <p:cNvPr id="9" name="meccsrészletek" descr="meccsrészlete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463040"/>
            <a:ext cx="3822192" cy="2370352"/>
          </a:xfrm>
          <a:prstGeom prst="rect">
            <a:avLst/>
          </a:prstGeom>
        </p:spPr>
      </p:pic>
      <p:sp>
        <p:nvSpPr>
          <p:cNvPr id="10" name="állapot Közelgő esemény"/>
          <p:cNvSpPr txBox="1"/>
          <p:nvPr/>
        </p:nvSpPr>
        <p:spPr>
          <a:xfrm>
            <a:off x="7818120" y="4023360"/>
            <a:ext cx="17830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Közelgő esemény</a:t>
            </a:r>
            <a:endParaRPr lang="en-US" sz="1300" dirty="0"/>
          </a:p>
        </p:txBody>
      </p:sp>
      <p:sp>
        <p:nvSpPr>
          <p:cNvPr id="11" name="elem"/>
          <p:cNvSpPr txBox="1"/>
          <p:nvPr/>
        </p:nvSpPr>
        <p:spPr>
          <a:xfrm>
            <a:off x="9738360" y="39867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még nem kezdődött el</a:t>
            </a:r>
            <a:endParaRPr lang="en-US" sz="1400" dirty="0"/>
          </a:p>
        </p:txBody>
      </p:sp>
      <p:sp>
        <p:nvSpPr>
          <p:cNvPr id="12" name="állapot Folyamatban"/>
          <p:cNvSpPr txBox="1"/>
          <p:nvPr/>
        </p:nvSpPr>
        <p:spPr>
          <a:xfrm>
            <a:off x="7818120" y="4800600"/>
            <a:ext cx="17830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/>
                </a:solidFill>
              </a:rPr>
              <a:t>Folyamatban</a:t>
            </a:r>
            <a:endParaRPr lang="en-US" sz="1300" dirty="0"/>
          </a:p>
        </p:txBody>
      </p:sp>
      <p:sp>
        <p:nvSpPr>
          <p:cNvPr id="13" name="elem"/>
          <p:cNvSpPr txBox="1"/>
          <p:nvPr/>
        </p:nvSpPr>
        <p:spPr>
          <a:xfrm>
            <a:off x="9738360" y="47640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45 percig – ilyenkor lehet pontot adni</a:t>
            </a:r>
            <a:endParaRPr lang="en-US" sz="1400" dirty="0"/>
          </a:p>
        </p:txBody>
      </p:sp>
      <p:sp>
        <p:nvSpPr>
          <p:cNvPr id="14" name="állapot Lezajlott"/>
          <p:cNvSpPr txBox="1"/>
          <p:nvPr/>
        </p:nvSpPr>
        <p:spPr>
          <a:xfrm>
            <a:off x="7818120" y="5577840"/>
            <a:ext cx="178308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Lezajlott</a:t>
            </a:r>
            <a:endParaRPr lang="en-US" sz="1300" dirty="0"/>
          </a:p>
        </p:txBody>
      </p:sp>
      <p:sp>
        <p:nvSpPr>
          <p:cNvPr id="15" name="elem"/>
          <p:cNvSpPr txBox="1"/>
          <p:nvPr/>
        </p:nvSpPr>
        <p:spPr>
          <a:xfrm>
            <a:off x="9738360" y="554126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pontszám már végleges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Regisztráció és bejelentkezés</a:t>
            </a:r>
            <a:endParaRPr lang="en-US" sz="3200" dirty="0"/>
          </a:p>
        </p:txBody>
      </p:sp>
      <p:pic>
        <p:nvPicPr>
          <p:cNvPr id="3" name="regisztrációs ablak" descr="regisztrációs abla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616100" cy="4846320"/>
          </a:xfrm>
          <a:prstGeom prst="rect">
            <a:avLst/>
          </a:prstGeom>
        </p:spPr>
      </p:pic>
      <p:sp>
        <p:nvSpPr>
          <p:cNvPr id="4" name="pipa 1 kör"/>
          <p:cNvSpPr/>
          <p:nvPr/>
        </p:nvSpPr>
        <p:spPr>
          <a:xfrm>
            <a:off x="4800600" y="16459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pa 1" descr="pipa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330" y="1771650"/>
            <a:ext cx="251460" cy="251460"/>
          </a:xfrm>
          <a:prstGeom prst="rect">
            <a:avLst/>
          </a:prstGeom>
        </p:spPr>
      </p:pic>
      <p:sp>
        <p:nvSpPr>
          <p:cNvPr id="6" name="elem"/>
          <p:cNvSpPr txBox="1"/>
          <p:nvPr/>
        </p:nvSpPr>
        <p:spPr>
          <a:xfrm>
            <a:off x="548640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Vezeték- és keresztnév: 2–30 betű</a:t>
            </a:r>
            <a:endParaRPr lang="en-US" sz="1500" dirty="0"/>
          </a:p>
        </p:txBody>
      </p:sp>
      <p:sp>
        <p:nvSpPr>
          <p:cNvPr id="7" name="pipa 2 kör"/>
          <p:cNvSpPr/>
          <p:nvPr/>
        </p:nvSpPr>
        <p:spPr>
          <a:xfrm>
            <a:off x="8275320" y="16459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ipa 2" descr="pipa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0" y="1771650"/>
            <a:ext cx="251460" cy="251460"/>
          </a:xfrm>
          <a:prstGeom prst="rect">
            <a:avLst/>
          </a:prstGeom>
        </p:spPr>
      </p:pic>
      <p:sp>
        <p:nvSpPr>
          <p:cNvPr id="9" name="elem"/>
          <p:cNvSpPr txBox="1"/>
          <p:nvPr/>
        </p:nvSpPr>
        <p:spPr>
          <a:xfrm>
            <a:off x="896112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Felhasználónév: 8–20 karakter</a:t>
            </a:r>
            <a:endParaRPr lang="en-US" sz="1500" dirty="0"/>
          </a:p>
        </p:txBody>
      </p:sp>
      <p:sp>
        <p:nvSpPr>
          <p:cNvPr id="10" name="pipa 3 kör"/>
          <p:cNvSpPr/>
          <p:nvPr/>
        </p:nvSpPr>
        <p:spPr>
          <a:xfrm>
            <a:off x="4800600" y="2697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pipa 3" descr="pipa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330" y="2823210"/>
            <a:ext cx="251460" cy="251460"/>
          </a:xfrm>
          <a:prstGeom prst="rect">
            <a:avLst/>
          </a:prstGeom>
        </p:spPr>
      </p:pic>
      <p:sp>
        <p:nvSpPr>
          <p:cNvPr id="12" name="elem"/>
          <p:cNvSpPr txBox="1"/>
          <p:nvPr/>
        </p:nvSpPr>
        <p:spPr>
          <a:xfrm>
            <a:off x="5486400" y="2606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Érvényes e-mail-cím</a:t>
            </a:r>
            <a:endParaRPr lang="en-US" sz="1500" dirty="0"/>
          </a:p>
        </p:txBody>
      </p:sp>
      <p:sp>
        <p:nvSpPr>
          <p:cNvPr id="13" name="pipa 4 kör"/>
          <p:cNvSpPr/>
          <p:nvPr/>
        </p:nvSpPr>
        <p:spPr>
          <a:xfrm>
            <a:off x="8275320" y="2697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pipa 4" descr="pipa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0" y="2823210"/>
            <a:ext cx="251460" cy="251460"/>
          </a:xfrm>
          <a:prstGeom prst="rect">
            <a:avLst/>
          </a:prstGeom>
        </p:spPr>
      </p:pic>
      <p:sp>
        <p:nvSpPr>
          <p:cNvPr id="15" name="elem"/>
          <p:cNvSpPr txBox="1"/>
          <p:nvPr/>
        </p:nvSpPr>
        <p:spPr>
          <a:xfrm>
            <a:off x="8961120" y="2606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Jelszó: min. 8 karakter, kis- és nagybetű, szám</a:t>
            </a:r>
            <a:endParaRPr lang="en-US" sz="1500" dirty="0"/>
          </a:p>
        </p:txBody>
      </p:sp>
      <p:sp>
        <p:nvSpPr>
          <p:cNvPr id="16" name="pipa 5 kör"/>
          <p:cNvSpPr/>
          <p:nvPr/>
        </p:nvSpPr>
        <p:spPr>
          <a:xfrm>
            <a:off x="4800600" y="3749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pipa 5" descr="pipa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330" y="3874770"/>
            <a:ext cx="251460" cy="251460"/>
          </a:xfrm>
          <a:prstGeom prst="rect">
            <a:avLst/>
          </a:prstGeom>
        </p:spPr>
      </p:pic>
      <p:sp>
        <p:nvSpPr>
          <p:cNvPr id="18" name="elem"/>
          <p:cNvSpPr txBox="1"/>
          <p:nvPr/>
        </p:nvSpPr>
        <p:spPr>
          <a:xfrm>
            <a:off x="5486400" y="3657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Adatkezelés elfogadása kötelező</a:t>
            </a:r>
            <a:endParaRPr lang="en-US" sz="1500" dirty="0"/>
          </a:p>
        </p:txBody>
      </p:sp>
      <p:sp>
        <p:nvSpPr>
          <p:cNvPr id="19" name="pipa 6 kör"/>
          <p:cNvSpPr/>
          <p:nvPr/>
        </p:nvSpPr>
        <p:spPr>
          <a:xfrm>
            <a:off x="8275320" y="3749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ipa 6" descr="pipa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0" y="3874770"/>
            <a:ext cx="251460" cy="251460"/>
          </a:xfrm>
          <a:prstGeom prst="rect">
            <a:avLst/>
          </a:prstGeom>
        </p:spPr>
      </p:pic>
      <p:sp>
        <p:nvSpPr>
          <p:cNvPr id="21" name="elem"/>
          <p:cNvSpPr txBox="1"/>
          <p:nvPr/>
        </p:nvSpPr>
        <p:spPr>
          <a:xfrm>
            <a:off x="8961120" y="3657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Foglalt név vagy e-mail kiszűrése</a:t>
            </a:r>
            <a:endParaRPr lang="en-US" sz="1500" dirty="0"/>
          </a:p>
        </p:txBody>
      </p:sp>
      <p:sp>
        <p:nvSpPr>
          <p:cNvPr id="22" name="jelszó doboz"/>
          <p:cNvSpPr/>
          <p:nvPr/>
        </p:nvSpPr>
        <p:spPr>
          <a:xfrm>
            <a:off x="4800600" y="4892040"/>
            <a:ext cx="6839712" cy="141732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lakat kör"/>
          <p:cNvSpPr/>
          <p:nvPr/>
        </p:nvSpPr>
        <p:spPr>
          <a:xfrm>
            <a:off x="5074920" y="5212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lakat" descr="laka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9230" y="5406390"/>
            <a:ext cx="388620" cy="388620"/>
          </a:xfrm>
          <a:prstGeom prst="rect">
            <a:avLst/>
          </a:prstGeom>
        </p:spPr>
      </p:pic>
      <p:sp>
        <p:nvSpPr>
          <p:cNvPr id="25" name="elem"/>
          <p:cNvSpPr txBox="1"/>
          <p:nvPr/>
        </p:nvSpPr>
        <p:spPr>
          <a:xfrm>
            <a:off x="6080760" y="507492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jelszó privát (#) mezőben tárolódik: kívülről nem olvasható ki, csak ellenőrizni lehet, hogy egyezik-e.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ke 02"/>
          <p:cNvSpPr txBox="1"/>
          <p:nvPr/>
        </p:nvSpPr>
        <p:spPr>
          <a:xfrm>
            <a:off x="731520" y="2331720"/>
            <a:ext cx="2194560" cy="192024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46120" y="2514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 motorháztető alatt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324612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Technológiák • Osztályok • Mobilnézet • Számok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Amivel készült</a:t>
            </a:r>
            <a:endParaRPr lang="en-US" sz="3200" dirty="0"/>
          </a:p>
        </p:txBody>
      </p:sp>
      <p:sp>
        <p:nvSpPr>
          <p:cNvPr id="3" name="technológia HTML5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HTML5 kör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HTML5" descr="HTML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elem"/>
          <p:cNvSpPr txBox="1"/>
          <p:nvPr/>
        </p:nvSpPr>
        <p:spPr>
          <a:xfrm>
            <a:off x="868680" y="2697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HTML5</a:t>
            </a:r>
            <a:endParaRPr lang="en-US" sz="1900" dirty="0"/>
          </a:p>
        </p:txBody>
      </p:sp>
      <p:sp>
        <p:nvSpPr>
          <p:cNvPr id="7" name="elem"/>
          <p:cNvSpPr txBox="1"/>
          <p:nvPr/>
        </p:nvSpPr>
        <p:spPr>
          <a:xfrm>
            <a:off x="868680" y="3090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Három oldal, közös szerkezettel</a:t>
            </a:r>
            <a:endParaRPr lang="en-US" sz="1400" dirty="0"/>
          </a:p>
        </p:txBody>
      </p:sp>
      <p:sp>
        <p:nvSpPr>
          <p:cNvPr id="8" name="technológia CSS3 + Bootstrap 5"/>
          <p:cNvSpPr/>
          <p:nvPr/>
        </p:nvSpPr>
        <p:spPr>
          <a:xfrm>
            <a:off x="4334256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CSS3 + Bootstrap 5 kör"/>
          <p:cNvSpPr/>
          <p:nvPr/>
        </p:nvSpPr>
        <p:spPr>
          <a:xfrm>
            <a:off x="4654296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CSS3 + Bootstrap 5" descr="CSS3 + Bootstra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606" y="1977390"/>
            <a:ext cx="388620" cy="388620"/>
          </a:xfrm>
          <a:prstGeom prst="rect">
            <a:avLst/>
          </a:prstGeom>
        </p:spPr>
      </p:pic>
      <p:sp>
        <p:nvSpPr>
          <p:cNvPr id="11" name="elem"/>
          <p:cNvSpPr txBox="1"/>
          <p:nvPr/>
        </p:nvSpPr>
        <p:spPr>
          <a:xfrm>
            <a:off x="4654296" y="2697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CSS3 + Bootstrap 5</a:t>
            </a:r>
            <a:endParaRPr lang="en-US" sz="1900" dirty="0"/>
          </a:p>
        </p:txBody>
      </p:sp>
      <p:sp>
        <p:nvSpPr>
          <p:cNvPr id="12" name="elem"/>
          <p:cNvSpPr txBox="1"/>
          <p:nvPr/>
        </p:nvSpPr>
        <p:spPr>
          <a:xfrm>
            <a:off x="4654296" y="3090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Rácsrendszer, ablakok és egyetlen közös stíluslap</a:t>
            </a:r>
            <a:endParaRPr lang="en-US" sz="1400" dirty="0"/>
          </a:p>
        </p:txBody>
      </p:sp>
      <p:sp>
        <p:nvSpPr>
          <p:cNvPr id="13" name="technológia JavaScript"/>
          <p:cNvSpPr/>
          <p:nvPr/>
        </p:nvSpPr>
        <p:spPr>
          <a:xfrm>
            <a:off x="8119872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JavaScript kör"/>
          <p:cNvSpPr/>
          <p:nvPr/>
        </p:nvSpPr>
        <p:spPr>
          <a:xfrm>
            <a:off x="8439912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JavaScript" descr="JavaScrip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222" y="1977390"/>
            <a:ext cx="388620" cy="388620"/>
          </a:xfrm>
          <a:prstGeom prst="rect">
            <a:avLst/>
          </a:prstGeom>
        </p:spPr>
      </p:pic>
      <p:sp>
        <p:nvSpPr>
          <p:cNvPr id="16" name="elem"/>
          <p:cNvSpPr txBox="1"/>
          <p:nvPr/>
        </p:nvSpPr>
        <p:spPr>
          <a:xfrm>
            <a:off x="8439912" y="2697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JavaScript</a:t>
            </a:r>
            <a:endParaRPr lang="en-US" sz="1900" dirty="0"/>
          </a:p>
        </p:txBody>
      </p:sp>
      <p:sp>
        <p:nvSpPr>
          <p:cNvPr id="17" name="elem"/>
          <p:cNvSpPr txBox="1"/>
          <p:nvPr/>
        </p:nvSpPr>
        <p:spPr>
          <a:xfrm>
            <a:off x="8439912" y="3090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Osztályok privát (#) </a:t>
            </a:r>
            <a:r>
              <a:rPr lang="en-US" sz="1400" dirty="0" err="1">
                <a:solidFill>
                  <a:schemeClr val="bg2"/>
                </a:solidFill>
              </a:rPr>
              <a:t>mezőkkel</a:t>
            </a:r>
            <a:r>
              <a:rPr lang="hu-HU" sz="1400" dirty="0">
                <a:solidFill>
                  <a:schemeClr val="bg2"/>
                </a:solidFill>
              </a:rPr>
              <a:t> (adatrejtéssel)</a:t>
            </a:r>
            <a:endParaRPr lang="en-US" sz="1400" dirty="0"/>
          </a:p>
        </p:txBody>
      </p:sp>
      <p:sp>
        <p:nvSpPr>
          <p:cNvPr id="18" name="technológia jQuery"/>
          <p:cNvSpPr/>
          <p:nvPr/>
        </p:nvSpPr>
        <p:spPr>
          <a:xfrm>
            <a:off x="54864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jQuery kör"/>
          <p:cNvSpPr/>
          <p:nvPr/>
        </p:nvSpPr>
        <p:spPr>
          <a:xfrm>
            <a:off x="868680" y="4251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jQuery" descr="jQue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990" y="4446270"/>
            <a:ext cx="388620" cy="388620"/>
          </a:xfrm>
          <a:prstGeom prst="rect">
            <a:avLst/>
          </a:prstGeom>
        </p:spPr>
      </p:pic>
      <p:sp>
        <p:nvSpPr>
          <p:cNvPr id="21" name="elem"/>
          <p:cNvSpPr txBox="1"/>
          <p:nvPr/>
        </p:nvSpPr>
        <p:spPr>
          <a:xfrm>
            <a:off x="868680" y="5166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jQuery</a:t>
            </a:r>
            <a:endParaRPr lang="en-US" sz="1900" dirty="0"/>
          </a:p>
        </p:txBody>
      </p:sp>
      <p:sp>
        <p:nvSpPr>
          <p:cNvPr id="22" name="elem"/>
          <p:cNvSpPr txBox="1"/>
          <p:nvPr/>
        </p:nvSpPr>
        <p:spPr>
          <a:xfrm>
            <a:off x="868680" y="55595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Eseménykezelés és az oldal frissítése</a:t>
            </a:r>
            <a:endParaRPr lang="en-US" sz="1400" dirty="0"/>
          </a:p>
        </p:txBody>
      </p:sp>
      <p:sp>
        <p:nvSpPr>
          <p:cNvPr id="23" name="technológia SVG"/>
          <p:cNvSpPr/>
          <p:nvPr/>
        </p:nvSpPr>
        <p:spPr>
          <a:xfrm>
            <a:off x="4334256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VG kör"/>
          <p:cNvSpPr/>
          <p:nvPr/>
        </p:nvSpPr>
        <p:spPr>
          <a:xfrm>
            <a:off x="4654296" y="4251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elem"/>
          <p:cNvSpPr txBox="1"/>
          <p:nvPr/>
        </p:nvSpPr>
        <p:spPr>
          <a:xfrm>
            <a:off x="4654296" y="5166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900" b="1" dirty="0">
                <a:solidFill>
                  <a:schemeClr val="bg1"/>
                </a:solidFill>
              </a:rPr>
              <a:t>Claude</a:t>
            </a:r>
            <a:endParaRPr lang="en-US" sz="1900" dirty="0"/>
          </a:p>
        </p:txBody>
      </p:sp>
      <p:sp>
        <p:nvSpPr>
          <p:cNvPr id="27" name="elem"/>
          <p:cNvSpPr txBox="1"/>
          <p:nvPr/>
        </p:nvSpPr>
        <p:spPr>
          <a:xfrm>
            <a:off x="4654296" y="55595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400" dirty="0">
                <a:solidFill>
                  <a:schemeClr val="bg2"/>
                </a:solidFill>
              </a:rPr>
              <a:t>Sok olyan dologban segített melyet nem ismerünk</a:t>
            </a:r>
            <a:endParaRPr lang="en-US" sz="1400" dirty="0"/>
          </a:p>
        </p:txBody>
      </p:sp>
      <p:sp>
        <p:nvSpPr>
          <p:cNvPr id="28" name="technológia Slick"/>
          <p:cNvSpPr/>
          <p:nvPr/>
        </p:nvSpPr>
        <p:spPr>
          <a:xfrm>
            <a:off x="8119872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lick kör"/>
          <p:cNvSpPr/>
          <p:nvPr/>
        </p:nvSpPr>
        <p:spPr>
          <a:xfrm>
            <a:off x="8439912" y="4251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Slick" descr="Sli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4222" y="4446270"/>
            <a:ext cx="388620" cy="388620"/>
          </a:xfrm>
          <a:prstGeom prst="rect">
            <a:avLst/>
          </a:prstGeom>
        </p:spPr>
      </p:pic>
      <p:sp>
        <p:nvSpPr>
          <p:cNvPr id="31" name="elem"/>
          <p:cNvSpPr txBox="1"/>
          <p:nvPr/>
        </p:nvSpPr>
        <p:spPr>
          <a:xfrm>
            <a:off x="8439912" y="5166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Slick</a:t>
            </a:r>
            <a:endParaRPr lang="en-US" sz="1900" dirty="0"/>
          </a:p>
        </p:txBody>
      </p:sp>
      <p:sp>
        <p:nvSpPr>
          <p:cNvPr id="32" name="elem"/>
          <p:cNvSpPr txBox="1"/>
          <p:nvPr/>
        </p:nvSpPr>
        <p:spPr>
          <a:xfrm>
            <a:off x="8439912" y="55595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Áttűnéses képváltó a főoldal fejlécében</a:t>
            </a:r>
            <a:endParaRPr lang="en-US" sz="1400" dirty="0"/>
          </a:p>
        </p:txBody>
      </p:sp>
      <p:pic>
        <p:nvPicPr>
          <p:cNvPr id="34" name="Kép 33">
            <a:extLst>
              <a:ext uri="{FF2B5EF4-FFF2-40B4-BE49-F238E27FC236}">
                <a16:creationId xmlns:a16="http://schemas.microsoft.com/office/drawing/2014/main" id="{F9D3BB0D-9DF3-2269-5A9F-B46E9544BA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0606" y="4387421"/>
            <a:ext cx="504619" cy="5046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Osztálymodell</a:t>
            </a:r>
            <a:endParaRPr lang="en-US" sz="3200" dirty="0"/>
          </a:p>
        </p:txBody>
      </p:sp>
      <p:sp>
        <p:nvSpPr>
          <p:cNvPr id="3" name="osztály Csapat"/>
          <p:cNvSpPr/>
          <p:nvPr/>
        </p:nvSpPr>
        <p:spPr>
          <a:xfrm>
            <a:off x="548640" y="150876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fejléc Csapat"/>
          <p:cNvSpPr txBox="1"/>
          <p:nvPr/>
        </p:nvSpPr>
        <p:spPr>
          <a:xfrm>
            <a:off x="548640" y="1508760"/>
            <a:ext cx="32461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0" rIns="177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Csapat</a:t>
            </a:r>
            <a:endParaRPr lang="en-US" sz="1700" dirty="0"/>
          </a:p>
        </p:txBody>
      </p:sp>
      <p:sp>
        <p:nvSpPr>
          <p:cNvPr id="5" name="elem"/>
          <p:cNvSpPr txBox="1"/>
          <p:nvPr/>
        </p:nvSpPr>
        <p:spPr>
          <a:xfrm>
            <a:off x="749808" y="2167128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nev, koltsegvetes, rang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jatekosok[ ]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hozzaad() / lecserel()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statuszValt()</a:t>
            </a:r>
            <a:endParaRPr lang="en-US" sz="1300" dirty="0"/>
          </a:p>
        </p:txBody>
      </p:sp>
      <p:sp>
        <p:nvSpPr>
          <p:cNvPr id="6" name="osztály Jatekos"/>
          <p:cNvSpPr/>
          <p:nvPr/>
        </p:nvSpPr>
        <p:spPr>
          <a:xfrm>
            <a:off x="4471416" y="150876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fejléc Jatekos"/>
          <p:cNvSpPr txBox="1"/>
          <p:nvPr/>
        </p:nvSpPr>
        <p:spPr>
          <a:xfrm>
            <a:off x="4471416" y="1508760"/>
            <a:ext cx="32461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0" rIns="177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Jatekos</a:t>
            </a:r>
            <a:endParaRPr lang="en-US" sz="1700" dirty="0"/>
          </a:p>
        </p:txBody>
      </p:sp>
      <p:sp>
        <p:nvSpPr>
          <p:cNvPr id="8" name="elem"/>
          <p:cNvSpPr txBox="1"/>
          <p:nvPr/>
        </p:nvSpPr>
        <p:spPr>
          <a:xfrm>
            <a:off x="4672584" y="2167128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nick, szerep, status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kill, death, rating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getKD() / getWinrate()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getBetu() → A+…C</a:t>
            </a:r>
            <a:endParaRPr lang="en-US" sz="1300" dirty="0"/>
          </a:p>
        </p:txBody>
      </p:sp>
      <p:sp>
        <p:nvSpPr>
          <p:cNvPr id="9" name="Csapat–Jatekos"/>
          <p:cNvSpPr/>
          <p:nvPr/>
        </p:nvSpPr>
        <p:spPr>
          <a:xfrm>
            <a:off x="3794760" y="2628900"/>
            <a:ext cx="676656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elem"/>
          <p:cNvSpPr txBox="1"/>
          <p:nvPr/>
        </p:nvSpPr>
        <p:spPr>
          <a:xfrm>
            <a:off x="3794760" y="2240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0..8</a:t>
            </a:r>
            <a:endParaRPr lang="en-US" sz="1300" dirty="0"/>
          </a:p>
        </p:txBody>
      </p:sp>
      <p:sp>
        <p:nvSpPr>
          <p:cNvPr id="11" name="osztály Meccs"/>
          <p:cNvSpPr/>
          <p:nvPr/>
        </p:nvSpPr>
        <p:spPr>
          <a:xfrm>
            <a:off x="8394192" y="150876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fejléc Meccs"/>
          <p:cNvSpPr txBox="1"/>
          <p:nvPr/>
        </p:nvSpPr>
        <p:spPr>
          <a:xfrm>
            <a:off x="8394192" y="1508760"/>
            <a:ext cx="32461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0" rIns="177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Meccs</a:t>
            </a:r>
            <a:endParaRPr lang="en-US" sz="1700" dirty="0"/>
          </a:p>
        </p:txBody>
      </p:sp>
      <p:sp>
        <p:nvSpPr>
          <p:cNvPr id="13" name="elem"/>
          <p:cNvSpPr txBox="1"/>
          <p:nvPr/>
        </p:nvSpPr>
        <p:spPr>
          <a:xfrm>
            <a:off x="8595360" y="2167128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csapatA, csapatB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pontA, pontB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setPontA() / setPontB()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getIdopont()</a:t>
            </a:r>
            <a:endParaRPr lang="en-US" sz="1300" dirty="0"/>
          </a:p>
        </p:txBody>
      </p:sp>
      <p:sp>
        <p:nvSpPr>
          <p:cNvPr id="14" name="osztály Account"/>
          <p:cNvSpPr/>
          <p:nvPr/>
        </p:nvSpPr>
        <p:spPr>
          <a:xfrm>
            <a:off x="548640" y="4114800"/>
            <a:ext cx="324612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fejléc Account"/>
          <p:cNvSpPr txBox="1"/>
          <p:nvPr/>
        </p:nvSpPr>
        <p:spPr>
          <a:xfrm>
            <a:off x="548640" y="4114800"/>
            <a:ext cx="32461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0" rIns="177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Account</a:t>
            </a:r>
            <a:endParaRPr lang="en-US" sz="1700" dirty="0"/>
          </a:p>
        </p:txBody>
      </p:sp>
      <p:sp>
        <p:nvSpPr>
          <p:cNvPr id="16" name="elem"/>
          <p:cNvSpPr txBox="1"/>
          <p:nvPr/>
        </p:nvSpPr>
        <p:spPr>
          <a:xfrm>
            <a:off x="749808" y="4773168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#firstName, #lastName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#email, #password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checkPassword()</a:t>
            </a:r>
            <a:endParaRPr lang="en-US" sz="1300" dirty="0"/>
          </a:p>
        </p:txBody>
      </p:sp>
      <p:sp>
        <p:nvSpPr>
          <p:cNvPr id="17" name="osztály AccountStore"/>
          <p:cNvSpPr/>
          <p:nvPr/>
        </p:nvSpPr>
        <p:spPr>
          <a:xfrm>
            <a:off x="4471416" y="4114800"/>
            <a:ext cx="324612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fejléc AccountStore"/>
          <p:cNvSpPr txBox="1"/>
          <p:nvPr/>
        </p:nvSpPr>
        <p:spPr>
          <a:xfrm>
            <a:off x="4471416" y="4114800"/>
            <a:ext cx="32461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0" rIns="177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AccountStore</a:t>
            </a:r>
            <a:endParaRPr lang="en-US" sz="1700" dirty="0"/>
          </a:p>
        </p:txBody>
      </p:sp>
      <p:sp>
        <p:nvSpPr>
          <p:cNvPr id="19" name="elem"/>
          <p:cNvSpPr txBox="1"/>
          <p:nvPr/>
        </p:nvSpPr>
        <p:spPr>
          <a:xfrm>
            <a:off x="4672584" y="4773168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login() / logout()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currentUser</a:t>
            </a:r>
            <a:endParaRPr lang="en-US" sz="1300" dirty="0"/>
          </a:p>
        </p:txBody>
      </p:sp>
      <p:sp>
        <p:nvSpPr>
          <p:cNvPr id="20" name="Account–AccountStore"/>
          <p:cNvSpPr/>
          <p:nvPr/>
        </p:nvSpPr>
        <p:spPr>
          <a:xfrm>
            <a:off x="3794760" y="5212080"/>
            <a:ext cx="676656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elem"/>
          <p:cNvSpPr txBox="1"/>
          <p:nvPr/>
        </p:nvSpPr>
        <p:spPr>
          <a:xfrm>
            <a:off x="3794760" y="4828032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tárol</a:t>
            </a:r>
            <a:endParaRPr lang="en-US" sz="1300" dirty="0"/>
          </a:p>
        </p:txBody>
      </p:sp>
      <p:sp>
        <p:nvSpPr>
          <p:cNvPr id="22" name="megjegyzés"/>
          <p:cNvSpPr/>
          <p:nvPr/>
        </p:nvSpPr>
        <p:spPr>
          <a:xfrm>
            <a:off x="8394192" y="4114800"/>
            <a:ext cx="3246120" cy="219456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elem"/>
          <p:cNvSpPr txBox="1"/>
          <p:nvPr/>
        </p:nvSpPr>
        <p:spPr>
          <a:xfrm>
            <a:off x="8622792" y="4315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Két Meccs osztály</a:t>
            </a:r>
            <a:endParaRPr lang="en-US" sz="1700" dirty="0"/>
          </a:p>
        </p:txBody>
      </p:sp>
      <p:sp>
        <p:nvSpPr>
          <p:cNvPr id="24" name="elem"/>
          <p:cNvSpPr txBox="1"/>
          <p:nvPr/>
        </p:nvSpPr>
        <p:spPr>
          <a:xfrm>
            <a:off x="8622792" y="475488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 Játékosok oldal (MeccsZalan.js) és a Meccsek oldal (meccs.js) a saját igényeire szabott változatot használja.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Mobilon is teljes értékű</a:t>
            </a:r>
            <a:endParaRPr lang="en-US" sz="3200" dirty="0"/>
          </a:p>
        </p:txBody>
      </p:sp>
      <p:sp>
        <p:nvSpPr>
          <p:cNvPr id="3" name="telefon Hamburger menü"/>
          <p:cNvSpPr/>
          <p:nvPr/>
        </p:nvSpPr>
        <p:spPr>
          <a:xfrm>
            <a:off x="1097280" y="1325880"/>
            <a:ext cx="2011680" cy="4494065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 w="19050">
            <a:solidFill>
              <a:srgbClr val="4A4A4A"/>
            </a:solidFill>
            <a:prstDash val="solid"/>
          </a:ln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hangszóró"/>
          <p:cNvSpPr/>
          <p:nvPr/>
        </p:nvSpPr>
        <p:spPr>
          <a:xfrm>
            <a:off x="1783080" y="1408176"/>
            <a:ext cx="640080" cy="73152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mobil Hamburger menü" descr="mobil Hamburger men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554480"/>
            <a:ext cx="1865376" cy="4036865"/>
          </a:xfrm>
          <a:prstGeom prst="rect">
            <a:avLst/>
          </a:prstGeom>
        </p:spPr>
      </p:pic>
      <p:sp>
        <p:nvSpPr>
          <p:cNvPr id="6" name="elem"/>
          <p:cNvSpPr txBox="1"/>
          <p:nvPr/>
        </p:nvSpPr>
        <p:spPr>
          <a:xfrm>
            <a:off x="731520" y="592967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Hamburger menü</a:t>
            </a:r>
            <a:endParaRPr lang="en-US" sz="1600" dirty="0"/>
          </a:p>
        </p:txBody>
      </p:sp>
      <p:sp>
        <p:nvSpPr>
          <p:cNvPr id="7" name="telefon Kártyás játékoslista"/>
          <p:cNvSpPr/>
          <p:nvPr/>
        </p:nvSpPr>
        <p:spPr>
          <a:xfrm>
            <a:off x="4754880" y="1325880"/>
            <a:ext cx="2011680" cy="4494065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 w="19050">
            <a:solidFill>
              <a:srgbClr val="4A4A4A"/>
            </a:solidFill>
            <a:prstDash val="solid"/>
          </a:ln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hangszóró"/>
          <p:cNvSpPr/>
          <p:nvPr/>
        </p:nvSpPr>
        <p:spPr>
          <a:xfrm>
            <a:off x="5440680" y="1408176"/>
            <a:ext cx="640080" cy="73152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mobil Kártyás játékoslista" descr="mobil Kártyás játékoslis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54480"/>
            <a:ext cx="1865376" cy="4036865"/>
          </a:xfrm>
          <a:prstGeom prst="rect">
            <a:avLst/>
          </a:prstGeom>
        </p:spPr>
      </p:pic>
      <p:sp>
        <p:nvSpPr>
          <p:cNvPr id="10" name="elem"/>
          <p:cNvSpPr txBox="1"/>
          <p:nvPr/>
        </p:nvSpPr>
        <p:spPr>
          <a:xfrm>
            <a:off x="4389120" y="592967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Kártyás játékoslista</a:t>
            </a:r>
            <a:endParaRPr lang="en-US" sz="1600" dirty="0"/>
          </a:p>
        </p:txBody>
      </p:sp>
      <p:sp>
        <p:nvSpPr>
          <p:cNvPr id="11" name="telefon Függőleges idővonal"/>
          <p:cNvSpPr/>
          <p:nvPr/>
        </p:nvSpPr>
        <p:spPr>
          <a:xfrm>
            <a:off x="8412480" y="1325880"/>
            <a:ext cx="2011680" cy="4494065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 w="19050">
            <a:solidFill>
              <a:srgbClr val="4A4A4A"/>
            </a:solidFill>
            <a:prstDash val="solid"/>
          </a:ln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hangszóró"/>
          <p:cNvSpPr/>
          <p:nvPr/>
        </p:nvSpPr>
        <p:spPr>
          <a:xfrm>
            <a:off x="9098280" y="1408176"/>
            <a:ext cx="640080" cy="73152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mobil Függőleges idővonal" descr="mobil Függőleges idővon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554480"/>
            <a:ext cx="1865376" cy="4036865"/>
          </a:xfrm>
          <a:prstGeom prst="rect">
            <a:avLst/>
          </a:prstGeom>
        </p:spPr>
      </p:pic>
      <p:sp>
        <p:nvSpPr>
          <p:cNvPr id="14" name="elem"/>
          <p:cNvSpPr txBox="1"/>
          <p:nvPr/>
        </p:nvSpPr>
        <p:spPr>
          <a:xfrm>
            <a:off x="8046720" y="592967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Függőleges idővonal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 projekt számokban</a:t>
            </a:r>
            <a:endParaRPr lang="en-US" sz="3200" dirty="0"/>
          </a:p>
        </p:txBody>
      </p:sp>
      <p:sp>
        <p:nvSpPr>
          <p:cNvPr id="3" name="szám oldal"/>
          <p:cNvSpPr/>
          <p:nvPr/>
        </p:nvSpPr>
        <p:spPr>
          <a:xfrm>
            <a:off x="548640" y="1691640"/>
            <a:ext cx="2578608" cy="274320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elem"/>
          <p:cNvSpPr txBox="1"/>
          <p:nvPr/>
        </p:nvSpPr>
        <p:spPr>
          <a:xfrm>
            <a:off x="640080" y="1920240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elem"/>
          <p:cNvSpPr txBox="1"/>
          <p:nvPr/>
        </p:nvSpPr>
        <p:spPr>
          <a:xfrm>
            <a:off x="731520" y="31089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oldal</a:t>
            </a:r>
            <a:endParaRPr lang="en-US" sz="2000" dirty="0"/>
          </a:p>
        </p:txBody>
      </p:sp>
      <p:sp>
        <p:nvSpPr>
          <p:cNvPr id="6" name="elem"/>
          <p:cNvSpPr txBox="1"/>
          <p:nvPr/>
        </p:nvSpPr>
        <p:spPr>
          <a:xfrm>
            <a:off x="731520" y="3611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Főoldal, Játékosok, Meccsek</a:t>
            </a:r>
            <a:endParaRPr lang="en-US" sz="1400" dirty="0"/>
          </a:p>
        </p:txBody>
      </p:sp>
      <p:sp>
        <p:nvSpPr>
          <p:cNvPr id="7" name="szám JavaScript-osztály"/>
          <p:cNvSpPr/>
          <p:nvPr/>
        </p:nvSpPr>
        <p:spPr>
          <a:xfrm>
            <a:off x="3364992" y="1691640"/>
            <a:ext cx="2578608" cy="274320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elem"/>
          <p:cNvSpPr txBox="1"/>
          <p:nvPr/>
        </p:nvSpPr>
        <p:spPr>
          <a:xfrm>
            <a:off x="3456432" y="1920240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elem"/>
          <p:cNvSpPr txBox="1"/>
          <p:nvPr/>
        </p:nvSpPr>
        <p:spPr>
          <a:xfrm>
            <a:off x="3547872" y="31089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JavaScript-osztály</a:t>
            </a:r>
            <a:endParaRPr lang="en-US" sz="2000" dirty="0"/>
          </a:p>
        </p:txBody>
      </p:sp>
      <p:sp>
        <p:nvSpPr>
          <p:cNvPr id="10" name="elem"/>
          <p:cNvSpPr txBox="1"/>
          <p:nvPr/>
        </p:nvSpPr>
        <p:spPr>
          <a:xfrm>
            <a:off x="3547872" y="3611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Jatekos, Csapat, Meccs, Account…</a:t>
            </a:r>
            <a:endParaRPr lang="en-US" sz="1400" dirty="0"/>
          </a:p>
        </p:txBody>
      </p:sp>
      <p:sp>
        <p:nvSpPr>
          <p:cNvPr id="11" name="szám sor kód"/>
          <p:cNvSpPr/>
          <p:nvPr/>
        </p:nvSpPr>
        <p:spPr>
          <a:xfrm>
            <a:off x="6181344" y="1691640"/>
            <a:ext cx="2578608" cy="274320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elem"/>
          <p:cNvSpPr txBox="1"/>
          <p:nvPr/>
        </p:nvSpPr>
        <p:spPr>
          <a:xfrm>
            <a:off x="6272784" y="1920240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4700+</a:t>
            </a:r>
            <a:endParaRPr lang="en-US" sz="4400" dirty="0"/>
          </a:p>
        </p:txBody>
      </p:sp>
      <p:sp>
        <p:nvSpPr>
          <p:cNvPr id="13" name="elem"/>
          <p:cNvSpPr txBox="1"/>
          <p:nvPr/>
        </p:nvSpPr>
        <p:spPr>
          <a:xfrm>
            <a:off x="6364224" y="31089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sor kód</a:t>
            </a:r>
            <a:endParaRPr lang="en-US" sz="2000" dirty="0"/>
          </a:p>
        </p:txBody>
      </p:sp>
      <p:sp>
        <p:nvSpPr>
          <p:cNvPr id="14" name="elem"/>
          <p:cNvSpPr txBox="1"/>
          <p:nvPr/>
        </p:nvSpPr>
        <p:spPr>
          <a:xfrm>
            <a:off x="6364224" y="3611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HTML, CSS és JavaScript</a:t>
            </a:r>
            <a:endParaRPr lang="en-US" sz="1400" dirty="0"/>
          </a:p>
        </p:txBody>
      </p:sp>
      <p:sp>
        <p:nvSpPr>
          <p:cNvPr id="15" name="szám képméret"/>
          <p:cNvSpPr/>
          <p:nvPr/>
        </p:nvSpPr>
        <p:spPr>
          <a:xfrm>
            <a:off x="8997696" y="1691640"/>
            <a:ext cx="2578608" cy="274320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elem"/>
          <p:cNvSpPr txBox="1"/>
          <p:nvPr/>
        </p:nvSpPr>
        <p:spPr>
          <a:xfrm>
            <a:off x="9089136" y="1920240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</a:t>
            </a: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40%</a:t>
            </a:r>
            <a:endParaRPr lang="en-US" sz="4400" dirty="0"/>
          </a:p>
        </p:txBody>
      </p:sp>
      <p:sp>
        <p:nvSpPr>
          <p:cNvPr id="17" name="elem"/>
          <p:cNvSpPr txBox="1"/>
          <p:nvPr/>
        </p:nvSpPr>
        <p:spPr>
          <a:xfrm>
            <a:off x="9180576" y="31089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u-HU" sz="2000" b="1" dirty="0" err="1">
                <a:solidFill>
                  <a:schemeClr val="bg1"/>
                </a:solidFill>
              </a:rPr>
              <a:t>Ai</a:t>
            </a:r>
            <a:endParaRPr lang="en-US" sz="2000" dirty="0"/>
          </a:p>
        </p:txBody>
      </p:sp>
      <p:sp>
        <p:nvSpPr>
          <p:cNvPr id="18" name="elem"/>
          <p:cNvSpPr txBox="1"/>
          <p:nvPr/>
        </p:nvSpPr>
        <p:spPr>
          <a:xfrm>
            <a:off x="9180576" y="36118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u-HU" sz="1400" dirty="0">
                <a:solidFill>
                  <a:schemeClr val="bg2"/>
                </a:solidFill>
              </a:rPr>
              <a:t>Sok mindenben segített, ez </a:t>
            </a:r>
            <a:r>
              <a:rPr lang="hu-HU" sz="1400" dirty="0" err="1">
                <a:solidFill>
                  <a:schemeClr val="bg2"/>
                </a:solidFill>
              </a:rPr>
              <a:t>késöbb</a:t>
            </a:r>
            <a:r>
              <a:rPr lang="hu-HU" sz="1400" dirty="0">
                <a:solidFill>
                  <a:schemeClr val="bg2"/>
                </a:solidFill>
              </a:rPr>
              <a:t> részletezve</a:t>
            </a:r>
            <a:endParaRPr lang="en-US" sz="1400" dirty="0"/>
          </a:p>
        </p:txBody>
      </p:sp>
      <p:sp>
        <p:nvSpPr>
          <p:cNvPr id="19" name="címke 1 közös stíluslap"/>
          <p:cNvSpPr txBox="1"/>
          <p:nvPr/>
        </p:nvSpPr>
        <p:spPr>
          <a:xfrm>
            <a:off x="548640" y="5074920"/>
            <a:ext cx="3520440" cy="59436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 közös stíluslap</a:t>
            </a:r>
            <a:endParaRPr lang="en-US" sz="1500" dirty="0"/>
          </a:p>
        </p:txBody>
      </p:sp>
      <p:sp>
        <p:nvSpPr>
          <p:cNvPr id="20" name="címke 1 közös menü és belépőablak"/>
          <p:cNvSpPr txBox="1"/>
          <p:nvPr/>
        </p:nvSpPr>
        <p:spPr>
          <a:xfrm>
            <a:off x="4334256" y="5074920"/>
            <a:ext cx="3520440" cy="59436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 közös menü és belépőablak</a:t>
            </a:r>
            <a:endParaRPr lang="en-US" sz="1500" dirty="0"/>
          </a:p>
        </p:txBody>
      </p:sp>
      <p:sp>
        <p:nvSpPr>
          <p:cNvPr id="21" name="címke 11 saját JavaScript-fájl"/>
          <p:cNvSpPr txBox="1"/>
          <p:nvPr/>
        </p:nvSpPr>
        <p:spPr>
          <a:xfrm>
            <a:off x="8119872" y="5074920"/>
            <a:ext cx="3520440" cy="59436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11 saját JavaScript-fájl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ke 03"/>
          <p:cNvSpPr txBox="1"/>
          <p:nvPr/>
        </p:nvSpPr>
        <p:spPr>
          <a:xfrm>
            <a:off x="731520" y="2331720"/>
            <a:ext cx="2194560" cy="192024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46120" y="2514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Csapatmunka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324612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Hogyan dolgoztunk együtt hárman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Így dolgoztunk</a:t>
            </a:r>
            <a:endParaRPr lang="en-US" sz="3200" dirty="0"/>
          </a:p>
        </p:txBody>
      </p:sp>
      <p:sp>
        <p:nvSpPr>
          <p:cNvPr id="3" name="lépés Tervezés"/>
          <p:cNvSpPr/>
          <p:nvPr/>
        </p:nvSpPr>
        <p:spPr>
          <a:xfrm>
            <a:off x="548640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címke 1"/>
          <p:cNvSpPr txBox="1"/>
          <p:nvPr/>
        </p:nvSpPr>
        <p:spPr>
          <a:xfrm>
            <a:off x="822960" y="1874520"/>
            <a:ext cx="685800" cy="41148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rvezés kör"/>
          <p:cNvSpPr/>
          <p:nvPr/>
        </p:nvSpPr>
        <p:spPr>
          <a:xfrm>
            <a:off x="822960" y="25603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Tervezés" descr="Tervezé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88920"/>
            <a:ext cx="457200" cy="457200"/>
          </a:xfrm>
          <a:prstGeom prst="rect">
            <a:avLst/>
          </a:prstGeom>
        </p:spPr>
      </p:pic>
      <p:sp>
        <p:nvSpPr>
          <p:cNvPr id="7" name="elem"/>
          <p:cNvSpPr txBox="1"/>
          <p:nvPr/>
        </p:nvSpPr>
        <p:spPr>
          <a:xfrm>
            <a:off x="822960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Tervezés</a:t>
            </a:r>
            <a:endParaRPr lang="en-US" sz="1900" dirty="0"/>
          </a:p>
        </p:txBody>
      </p:sp>
      <p:sp>
        <p:nvSpPr>
          <p:cNvPr id="8" name="elem"/>
          <p:cNvSpPr txBox="1"/>
          <p:nvPr/>
        </p:nvSpPr>
        <p:spPr>
          <a:xfrm>
            <a:off x="822960" y="42062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Közösen kitaláltuk az oldal célját, az arculatot és a három fő részt.</a:t>
            </a:r>
            <a:endParaRPr lang="en-US" sz="1500" dirty="0"/>
          </a:p>
        </p:txBody>
      </p:sp>
      <p:pic>
        <p:nvPicPr>
          <p:cNvPr id="9" name="nyíl 1" descr="nyí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807208"/>
            <a:ext cx="301752" cy="301752"/>
          </a:xfrm>
          <a:prstGeom prst="rect">
            <a:avLst/>
          </a:prstGeom>
        </p:spPr>
      </p:pic>
      <p:sp>
        <p:nvSpPr>
          <p:cNvPr id="10" name="lépés Feladatkiosztás"/>
          <p:cNvSpPr/>
          <p:nvPr/>
        </p:nvSpPr>
        <p:spPr>
          <a:xfrm>
            <a:off x="3456432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ímke 2"/>
          <p:cNvSpPr txBox="1"/>
          <p:nvPr/>
        </p:nvSpPr>
        <p:spPr>
          <a:xfrm>
            <a:off x="3730752" y="1874520"/>
            <a:ext cx="685800" cy="41148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Feladatkiosztás kör"/>
          <p:cNvSpPr/>
          <p:nvPr/>
        </p:nvSpPr>
        <p:spPr>
          <a:xfrm>
            <a:off x="3730752" y="25603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Feladatkiosztás" descr="Feladatkiosztá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52" y="2788920"/>
            <a:ext cx="457200" cy="457200"/>
          </a:xfrm>
          <a:prstGeom prst="rect">
            <a:avLst/>
          </a:prstGeom>
        </p:spPr>
      </p:pic>
      <p:sp>
        <p:nvSpPr>
          <p:cNvPr id="14" name="elem"/>
          <p:cNvSpPr txBox="1"/>
          <p:nvPr/>
        </p:nvSpPr>
        <p:spPr>
          <a:xfrm>
            <a:off x="3730752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Feladatkiosztás</a:t>
            </a:r>
            <a:endParaRPr lang="en-US" sz="1900" dirty="0"/>
          </a:p>
        </p:txBody>
      </p:sp>
      <p:sp>
        <p:nvSpPr>
          <p:cNvPr id="15" name="elem"/>
          <p:cNvSpPr txBox="1"/>
          <p:nvPr/>
        </p:nvSpPr>
        <p:spPr>
          <a:xfrm>
            <a:off x="3730752" y="42062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Mindenki kapott egy saját oldalt, amiért ő felelt.</a:t>
            </a:r>
            <a:endParaRPr lang="en-US" sz="1500" dirty="0"/>
          </a:p>
        </p:txBody>
      </p:sp>
      <p:pic>
        <p:nvPicPr>
          <p:cNvPr id="16" name="nyíl 2" descr="nyíl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807208"/>
            <a:ext cx="301752" cy="301752"/>
          </a:xfrm>
          <a:prstGeom prst="rect">
            <a:avLst/>
          </a:prstGeom>
        </p:spPr>
      </p:pic>
      <p:sp>
        <p:nvSpPr>
          <p:cNvPr id="17" name="lépés Párhuzamos munka"/>
          <p:cNvSpPr/>
          <p:nvPr/>
        </p:nvSpPr>
        <p:spPr>
          <a:xfrm>
            <a:off x="6364224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címke 3"/>
          <p:cNvSpPr txBox="1"/>
          <p:nvPr/>
        </p:nvSpPr>
        <p:spPr>
          <a:xfrm>
            <a:off x="6638544" y="1874520"/>
            <a:ext cx="685800" cy="41148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Párhuzamos munka kör"/>
          <p:cNvSpPr/>
          <p:nvPr/>
        </p:nvSpPr>
        <p:spPr>
          <a:xfrm>
            <a:off x="6638544" y="25603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árhuzamos munka" descr="Párhuzamos munk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2788920"/>
            <a:ext cx="457200" cy="457200"/>
          </a:xfrm>
          <a:prstGeom prst="rect">
            <a:avLst/>
          </a:prstGeom>
        </p:spPr>
      </p:pic>
      <p:sp>
        <p:nvSpPr>
          <p:cNvPr id="21" name="elem"/>
          <p:cNvSpPr txBox="1"/>
          <p:nvPr/>
        </p:nvSpPr>
        <p:spPr>
          <a:xfrm>
            <a:off x="6638544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Párhuzamos munka</a:t>
            </a:r>
            <a:endParaRPr lang="en-US" sz="1900" dirty="0"/>
          </a:p>
        </p:txBody>
      </p:sp>
      <p:sp>
        <p:nvSpPr>
          <p:cNvPr id="22" name="elem"/>
          <p:cNvSpPr txBox="1"/>
          <p:nvPr/>
        </p:nvSpPr>
        <p:spPr>
          <a:xfrm>
            <a:off x="6638544" y="42062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Egyszerre fejlesztettünk, egymást nem akasztva meg.</a:t>
            </a:r>
            <a:endParaRPr lang="en-US" sz="1500" dirty="0"/>
          </a:p>
        </p:txBody>
      </p:sp>
      <p:pic>
        <p:nvPicPr>
          <p:cNvPr id="23" name="nyíl 3" descr="nyíl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4" y="2807208"/>
            <a:ext cx="301752" cy="301752"/>
          </a:xfrm>
          <a:prstGeom prst="rect">
            <a:avLst/>
          </a:prstGeom>
        </p:spPr>
      </p:pic>
      <p:sp>
        <p:nvSpPr>
          <p:cNvPr id="24" name="lépés Összefésülés"/>
          <p:cNvSpPr/>
          <p:nvPr/>
        </p:nvSpPr>
        <p:spPr>
          <a:xfrm>
            <a:off x="9272016" y="1600200"/>
            <a:ext cx="2514600" cy="420624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címke 4"/>
          <p:cNvSpPr txBox="1"/>
          <p:nvPr/>
        </p:nvSpPr>
        <p:spPr>
          <a:xfrm>
            <a:off x="9546336" y="1874520"/>
            <a:ext cx="685800" cy="41148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Összefésülés kör"/>
          <p:cNvSpPr/>
          <p:nvPr/>
        </p:nvSpPr>
        <p:spPr>
          <a:xfrm>
            <a:off x="9546336" y="25603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Összefésülés" descr="Összefésülé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4936" y="2788920"/>
            <a:ext cx="457200" cy="457200"/>
          </a:xfrm>
          <a:prstGeom prst="rect">
            <a:avLst/>
          </a:prstGeom>
        </p:spPr>
      </p:pic>
      <p:sp>
        <p:nvSpPr>
          <p:cNvPr id="28" name="elem"/>
          <p:cNvSpPr txBox="1"/>
          <p:nvPr/>
        </p:nvSpPr>
        <p:spPr>
          <a:xfrm>
            <a:off x="9546336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Összefésülés</a:t>
            </a:r>
            <a:endParaRPr lang="en-US" sz="1900" dirty="0"/>
          </a:p>
        </p:txBody>
      </p:sp>
      <p:sp>
        <p:nvSpPr>
          <p:cNvPr id="29" name="elem"/>
          <p:cNvSpPr txBox="1"/>
          <p:nvPr/>
        </p:nvSpPr>
        <p:spPr>
          <a:xfrm>
            <a:off x="9546336" y="42062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végén közös menübe, fiókrendszerbe és stíluslapba fűztük a részeket.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Ki kivel dolgozott?</a:t>
            </a:r>
            <a:endParaRPr lang="en-US" sz="3200" dirty="0"/>
          </a:p>
        </p:txBody>
      </p:sp>
      <p:sp>
        <p:nvSpPr>
          <p:cNvPr id="3" name="kapcsolat ZO–ZS"/>
          <p:cNvSpPr/>
          <p:nvPr/>
        </p:nvSpPr>
        <p:spPr>
          <a:xfrm flipH="1">
            <a:off x="3017520" y="2103120"/>
            <a:ext cx="3081528" cy="32461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kapcsolat ZO–ZA"/>
          <p:cNvSpPr/>
          <p:nvPr/>
        </p:nvSpPr>
        <p:spPr>
          <a:xfrm>
            <a:off x="6099048" y="2103120"/>
            <a:ext cx="3072384" cy="32461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kapcsolat ZS–ZA"/>
          <p:cNvSpPr/>
          <p:nvPr/>
        </p:nvSpPr>
        <p:spPr>
          <a:xfrm>
            <a:off x="3017520" y="5349240"/>
            <a:ext cx="6153912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monogram Zoltán"/>
          <p:cNvSpPr txBox="1"/>
          <p:nvPr/>
        </p:nvSpPr>
        <p:spPr>
          <a:xfrm>
            <a:off x="5550408" y="1554480"/>
            <a:ext cx="1097280" cy="1097280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</a:t>
            </a:r>
            <a:endParaRPr lang="en-US" sz="2600" dirty="0"/>
          </a:p>
        </p:txBody>
      </p:sp>
      <p:sp>
        <p:nvSpPr>
          <p:cNvPr id="7" name="elem"/>
          <p:cNvSpPr txBox="1"/>
          <p:nvPr/>
        </p:nvSpPr>
        <p:spPr>
          <a:xfrm>
            <a:off x="5184648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Zoltán</a:t>
            </a:r>
            <a:endParaRPr lang="en-US" sz="1700" dirty="0"/>
          </a:p>
        </p:txBody>
      </p:sp>
      <p:sp>
        <p:nvSpPr>
          <p:cNvPr id="8" name="monogram Zsolt"/>
          <p:cNvSpPr txBox="1"/>
          <p:nvPr/>
        </p:nvSpPr>
        <p:spPr>
          <a:xfrm>
            <a:off x="2468880" y="4800600"/>
            <a:ext cx="1097280" cy="1097280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ZS</a:t>
            </a:r>
            <a:endParaRPr lang="en-US" sz="2600" dirty="0"/>
          </a:p>
        </p:txBody>
      </p:sp>
      <p:sp>
        <p:nvSpPr>
          <p:cNvPr id="9" name="elem"/>
          <p:cNvSpPr txBox="1"/>
          <p:nvPr/>
        </p:nvSpPr>
        <p:spPr>
          <a:xfrm>
            <a:off x="2103120" y="5943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Zsolt</a:t>
            </a:r>
            <a:endParaRPr lang="en-US" sz="1700" dirty="0"/>
          </a:p>
        </p:txBody>
      </p:sp>
      <p:sp>
        <p:nvSpPr>
          <p:cNvPr id="10" name="monogram Zalán"/>
          <p:cNvSpPr txBox="1"/>
          <p:nvPr/>
        </p:nvSpPr>
        <p:spPr>
          <a:xfrm>
            <a:off x="8622792" y="4800600"/>
            <a:ext cx="1097280" cy="1097280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</a:t>
            </a:r>
            <a:endParaRPr lang="en-US" sz="2600" dirty="0"/>
          </a:p>
        </p:txBody>
      </p:sp>
      <p:sp>
        <p:nvSpPr>
          <p:cNvPr id="11" name="elem"/>
          <p:cNvSpPr txBox="1"/>
          <p:nvPr/>
        </p:nvSpPr>
        <p:spPr>
          <a:xfrm>
            <a:off x="8257032" y="5943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Zalán</a:t>
            </a:r>
            <a:endParaRPr lang="en-US" sz="1700" dirty="0"/>
          </a:p>
        </p:txBody>
      </p:sp>
      <p:sp>
        <p:nvSpPr>
          <p:cNvPr id="12" name="együttműködés Menü és belépőablak"/>
          <p:cNvSpPr/>
          <p:nvPr/>
        </p:nvSpPr>
        <p:spPr>
          <a:xfrm>
            <a:off x="685800" y="3063240"/>
            <a:ext cx="31546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elem"/>
          <p:cNvSpPr txBox="1"/>
          <p:nvPr/>
        </p:nvSpPr>
        <p:spPr>
          <a:xfrm>
            <a:off x="886968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Menü és belépőablak</a:t>
            </a:r>
            <a:endParaRPr lang="en-US" sz="1500" dirty="0"/>
          </a:p>
        </p:txBody>
      </p:sp>
      <p:sp>
        <p:nvSpPr>
          <p:cNvPr id="14" name="elem"/>
          <p:cNvSpPr txBox="1"/>
          <p:nvPr/>
        </p:nvSpPr>
        <p:spPr>
          <a:xfrm>
            <a:off x="886968" y="3502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Zoltán közös fejléce és fiókablaka került a Meccsek oldalra.</a:t>
            </a:r>
            <a:endParaRPr lang="en-US" sz="1300" dirty="0"/>
          </a:p>
        </p:txBody>
      </p:sp>
      <p:sp>
        <p:nvSpPr>
          <p:cNvPr id="15" name="együttműködés Összefésülés"/>
          <p:cNvSpPr/>
          <p:nvPr/>
        </p:nvSpPr>
        <p:spPr>
          <a:xfrm>
            <a:off x="8348472" y="3063240"/>
            <a:ext cx="31546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elem"/>
          <p:cNvSpPr txBox="1"/>
          <p:nvPr/>
        </p:nvSpPr>
        <p:spPr>
          <a:xfrm>
            <a:off x="8549640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Összefésülés</a:t>
            </a:r>
            <a:endParaRPr lang="en-US" sz="1500" dirty="0"/>
          </a:p>
        </p:txBody>
      </p:sp>
      <p:sp>
        <p:nvSpPr>
          <p:cNvPr id="17" name="elem"/>
          <p:cNvSpPr txBox="1"/>
          <p:nvPr/>
        </p:nvSpPr>
        <p:spPr>
          <a:xfrm>
            <a:off x="8549640" y="3502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 Játékosok oldal Zoltán menüjével és stíluslapjával egészült ki.</a:t>
            </a:r>
            <a:endParaRPr lang="en-US" sz="1300" dirty="0"/>
          </a:p>
        </p:txBody>
      </p:sp>
      <p:sp>
        <p:nvSpPr>
          <p:cNvPr id="18" name="együttműködés Meccsek két oldalon"/>
          <p:cNvSpPr/>
          <p:nvPr/>
        </p:nvSpPr>
        <p:spPr>
          <a:xfrm>
            <a:off x="4521708" y="4777740"/>
            <a:ext cx="31546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elem"/>
          <p:cNvSpPr txBox="1"/>
          <p:nvPr/>
        </p:nvSpPr>
        <p:spPr>
          <a:xfrm>
            <a:off x="4722876" y="48874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Meccsek két oldalon</a:t>
            </a:r>
            <a:endParaRPr lang="en-US" sz="1500" dirty="0"/>
          </a:p>
        </p:txBody>
      </p:sp>
      <p:sp>
        <p:nvSpPr>
          <p:cNvPr id="20" name="elem"/>
          <p:cNvSpPr txBox="1"/>
          <p:nvPr/>
        </p:nvSpPr>
        <p:spPr>
          <a:xfrm>
            <a:off x="4722876" y="52166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Zsolt és Zalán is írt Meccs osztályt – mindkettő a saját oldalára szabva.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Közös szabályaink</a:t>
            </a:r>
            <a:endParaRPr lang="en-US" sz="3200" dirty="0"/>
          </a:p>
        </p:txBody>
      </p:sp>
      <p:sp>
        <p:nvSpPr>
          <p:cNvPr id="3" name="szabály Egy arculat"/>
          <p:cNvSpPr/>
          <p:nvPr/>
        </p:nvSpPr>
        <p:spPr>
          <a:xfrm>
            <a:off x="548640" y="1508760"/>
            <a:ext cx="54132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Egy arculat kör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Egy arculat" descr="Egy arcul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03120"/>
            <a:ext cx="457200" cy="457200"/>
          </a:xfrm>
          <a:prstGeom prst="rect">
            <a:avLst/>
          </a:prstGeom>
        </p:spPr>
      </p:pic>
      <p:sp>
        <p:nvSpPr>
          <p:cNvPr id="6" name="elem"/>
          <p:cNvSpPr txBox="1"/>
          <p:nvPr/>
        </p:nvSpPr>
        <p:spPr>
          <a:xfrm>
            <a:off x="2057400" y="1874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Egy </a:t>
            </a:r>
            <a:r>
              <a:rPr lang="hu-HU" sz="1900" b="1" dirty="0">
                <a:solidFill>
                  <a:schemeClr val="bg1"/>
                </a:solidFill>
              </a:rPr>
              <a:t>tematika</a:t>
            </a:r>
            <a:endParaRPr lang="en-US" sz="1900" dirty="0"/>
          </a:p>
        </p:txBody>
      </p:sp>
      <p:sp>
        <p:nvSpPr>
          <p:cNvPr id="7" name="elem"/>
          <p:cNvSpPr txBox="1"/>
          <p:nvPr/>
        </p:nvSpPr>
        <p:spPr>
          <a:xfrm>
            <a:off x="2057400" y="235000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Narancs–fekete színek és ugyanaz a betűtípus minden oldalon.</a:t>
            </a:r>
            <a:endParaRPr lang="en-US" sz="1500" dirty="0"/>
          </a:p>
        </p:txBody>
      </p:sp>
      <p:sp>
        <p:nvSpPr>
          <p:cNvPr id="8" name="szabály Saját oldal, saját fájlok"/>
          <p:cNvSpPr/>
          <p:nvPr/>
        </p:nvSpPr>
        <p:spPr>
          <a:xfrm>
            <a:off x="6227064" y="1508760"/>
            <a:ext cx="54132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aját oldal, saját fájlok kör"/>
          <p:cNvSpPr/>
          <p:nvPr/>
        </p:nvSpPr>
        <p:spPr>
          <a:xfrm>
            <a:off x="6547104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Saját oldal, saját fájlok" descr="Saját oldal, saját fájl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103120"/>
            <a:ext cx="457200" cy="457200"/>
          </a:xfrm>
          <a:prstGeom prst="rect">
            <a:avLst/>
          </a:prstGeom>
        </p:spPr>
      </p:pic>
      <p:sp>
        <p:nvSpPr>
          <p:cNvPr id="11" name="elem"/>
          <p:cNvSpPr txBox="1"/>
          <p:nvPr/>
        </p:nvSpPr>
        <p:spPr>
          <a:xfrm>
            <a:off x="7735824" y="1874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Saját oldal, saját fájlok</a:t>
            </a:r>
            <a:endParaRPr lang="en-US" sz="1900" dirty="0"/>
          </a:p>
        </p:txBody>
      </p:sp>
      <p:sp>
        <p:nvSpPr>
          <p:cNvPr id="12" name="elem"/>
          <p:cNvSpPr txBox="1"/>
          <p:nvPr/>
        </p:nvSpPr>
        <p:spPr>
          <a:xfrm>
            <a:off x="7735824" y="235000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Mindenki a saját HTML- és JS-fájljain dolgozott, így kevesebb volt az ütközés.</a:t>
            </a:r>
            <a:endParaRPr lang="en-US" sz="1500" dirty="0"/>
          </a:p>
        </p:txBody>
      </p:sp>
      <p:sp>
        <p:nvSpPr>
          <p:cNvPr id="13" name="szabály Egy közös stíluslap"/>
          <p:cNvSpPr/>
          <p:nvPr/>
        </p:nvSpPr>
        <p:spPr>
          <a:xfrm>
            <a:off x="548640" y="3977640"/>
            <a:ext cx="54132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Egy közös stíluslap kör"/>
          <p:cNvSpPr/>
          <p:nvPr/>
        </p:nvSpPr>
        <p:spPr>
          <a:xfrm>
            <a:off x="868680" y="4343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Egy közös stíluslap" descr="Egy közös stílusl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572000"/>
            <a:ext cx="457200" cy="457200"/>
          </a:xfrm>
          <a:prstGeom prst="rect">
            <a:avLst/>
          </a:prstGeom>
        </p:spPr>
      </p:pic>
      <p:sp>
        <p:nvSpPr>
          <p:cNvPr id="16" name="elem"/>
          <p:cNvSpPr txBox="1"/>
          <p:nvPr/>
        </p:nvSpPr>
        <p:spPr>
          <a:xfrm>
            <a:off x="2057400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Egy közös stíluslap</a:t>
            </a:r>
            <a:endParaRPr lang="en-US" sz="1900" dirty="0"/>
          </a:p>
        </p:txBody>
      </p:sp>
      <p:sp>
        <p:nvSpPr>
          <p:cNvPr id="17" name="elem"/>
          <p:cNvSpPr txBox="1"/>
          <p:nvPr/>
        </p:nvSpPr>
        <p:spPr>
          <a:xfrm>
            <a:off x="2057400" y="481888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Egy style.css, amelyben mindenkinek megvan a saját része.</a:t>
            </a:r>
            <a:endParaRPr lang="en-US" sz="1500" dirty="0"/>
          </a:p>
        </p:txBody>
      </p:sp>
      <p:sp>
        <p:nvSpPr>
          <p:cNvPr id="18" name="szabály Rendszeres egyeztetés"/>
          <p:cNvSpPr/>
          <p:nvPr/>
        </p:nvSpPr>
        <p:spPr>
          <a:xfrm>
            <a:off x="6227064" y="3977640"/>
            <a:ext cx="54132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ndszeres egyeztetés kör"/>
          <p:cNvSpPr/>
          <p:nvPr/>
        </p:nvSpPr>
        <p:spPr>
          <a:xfrm>
            <a:off x="6547104" y="4343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Rendszeres egyeztetés" descr="Rendszeres egyezteté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4572000"/>
            <a:ext cx="457200" cy="457200"/>
          </a:xfrm>
          <a:prstGeom prst="rect">
            <a:avLst/>
          </a:prstGeom>
        </p:spPr>
      </p:pic>
      <p:sp>
        <p:nvSpPr>
          <p:cNvPr id="21" name="elem"/>
          <p:cNvSpPr txBox="1"/>
          <p:nvPr/>
        </p:nvSpPr>
        <p:spPr>
          <a:xfrm>
            <a:off x="7735824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Rendszeres egyeztetés</a:t>
            </a:r>
            <a:endParaRPr lang="en-US" sz="1900" dirty="0"/>
          </a:p>
        </p:txBody>
      </p:sp>
      <p:sp>
        <p:nvSpPr>
          <p:cNvPr id="22" name="elem"/>
          <p:cNvSpPr txBox="1"/>
          <p:nvPr/>
        </p:nvSpPr>
        <p:spPr>
          <a:xfrm>
            <a:off x="7735824" y="481888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Megbeszéltük, ki min dolgozik, és mikor fésüljük össze a részeket.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Mit tanultunk a csapatmunkából?</a:t>
            </a:r>
            <a:endParaRPr lang="en-US" sz="3200" dirty="0"/>
          </a:p>
        </p:txBody>
      </p:sp>
      <p:sp>
        <p:nvSpPr>
          <p:cNvPr id="3" name="elem"/>
          <p:cNvSpPr txBox="1"/>
          <p:nvPr/>
        </p:nvSpPr>
        <p:spPr>
          <a:xfrm>
            <a:off x="548640" y="1417320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3"/>
                </a:solidFill>
              </a:rPr>
              <a:t>AMI JÓL MENT</a:t>
            </a:r>
            <a:endParaRPr lang="en-US" sz="1400" dirty="0"/>
          </a:p>
        </p:txBody>
      </p:sp>
      <p:sp>
        <p:nvSpPr>
          <p:cNvPr id="4" name="AMI JÓL MENT 1"/>
          <p:cNvSpPr/>
          <p:nvPr/>
        </p:nvSpPr>
        <p:spPr>
          <a:xfrm>
            <a:off x="548640" y="1920240"/>
            <a:ext cx="541324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AMI JÓL MENT ikon 1 kör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AMI JÓL MENT ikon 1" descr="AMI JÓL MENT ik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366010"/>
            <a:ext cx="342900" cy="342900"/>
          </a:xfrm>
          <a:prstGeom prst="rect">
            <a:avLst/>
          </a:prstGeom>
        </p:spPr>
      </p:pic>
      <p:sp>
        <p:nvSpPr>
          <p:cNvPr id="7" name="elem"/>
          <p:cNvSpPr txBox="1"/>
          <p:nvPr/>
        </p:nvSpPr>
        <p:spPr>
          <a:xfrm>
            <a:off x="1737360" y="20574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Világos felelősség: mindenki tudta, melyik oldal az övé</a:t>
            </a:r>
            <a:endParaRPr lang="en-US" sz="1600" dirty="0"/>
          </a:p>
        </p:txBody>
      </p:sp>
      <p:sp>
        <p:nvSpPr>
          <p:cNvPr id="8" name="AMI JÓL MENT 2"/>
          <p:cNvSpPr/>
          <p:nvPr/>
        </p:nvSpPr>
        <p:spPr>
          <a:xfrm>
            <a:off x="548640" y="3383280"/>
            <a:ext cx="541324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MI JÓL MENT ikon 2 kör"/>
          <p:cNvSpPr/>
          <p:nvPr/>
        </p:nvSpPr>
        <p:spPr>
          <a:xfrm>
            <a:off x="822960" y="365760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AMI JÓL MENT ikon 2" descr="AMI JÓL MENT ik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3829050"/>
            <a:ext cx="342900" cy="342900"/>
          </a:xfrm>
          <a:prstGeom prst="rect">
            <a:avLst/>
          </a:prstGeom>
        </p:spPr>
      </p:pic>
      <p:sp>
        <p:nvSpPr>
          <p:cNvPr id="11" name="elem"/>
          <p:cNvSpPr txBox="1"/>
          <p:nvPr/>
        </p:nvSpPr>
        <p:spPr>
          <a:xfrm>
            <a:off x="1737360" y="35204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Gyors haladás, mert párhuzamosan dolgoztunk</a:t>
            </a:r>
            <a:endParaRPr lang="en-US" sz="1600" dirty="0"/>
          </a:p>
        </p:txBody>
      </p:sp>
      <p:sp>
        <p:nvSpPr>
          <p:cNvPr id="12" name="AMI JÓL MENT 3"/>
          <p:cNvSpPr/>
          <p:nvPr/>
        </p:nvSpPr>
        <p:spPr>
          <a:xfrm>
            <a:off x="548640" y="4846320"/>
            <a:ext cx="541324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AMI JÓL MENT ikon 3 kör"/>
          <p:cNvSpPr/>
          <p:nvPr/>
        </p:nvSpPr>
        <p:spPr>
          <a:xfrm>
            <a:off x="822960" y="5120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AMI JÓL MENT ikon 3" descr="AMI JÓL MENT ik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5292090"/>
            <a:ext cx="342900" cy="342900"/>
          </a:xfrm>
          <a:prstGeom prst="rect">
            <a:avLst/>
          </a:prstGeom>
        </p:spPr>
      </p:pic>
      <p:sp>
        <p:nvSpPr>
          <p:cNvPr id="15" name="elem"/>
          <p:cNvSpPr txBox="1"/>
          <p:nvPr/>
        </p:nvSpPr>
        <p:spPr>
          <a:xfrm>
            <a:off x="1737360" y="49834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Közös hibakeresés az összefésülésnél</a:t>
            </a:r>
            <a:endParaRPr lang="en-US" sz="1600" dirty="0"/>
          </a:p>
        </p:txBody>
      </p:sp>
      <p:sp>
        <p:nvSpPr>
          <p:cNvPr id="16" name="elem"/>
          <p:cNvSpPr txBox="1"/>
          <p:nvPr/>
        </p:nvSpPr>
        <p:spPr>
          <a:xfrm>
            <a:off x="6227064" y="1417320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AMIT LEGKÖZELEBB MÁSKÉPP CSINÁLNÁNK</a:t>
            </a:r>
            <a:endParaRPr lang="en-US" sz="1400" dirty="0"/>
          </a:p>
        </p:txBody>
      </p:sp>
      <p:sp>
        <p:nvSpPr>
          <p:cNvPr id="17" name="AMIT LEGKÖZELEBB MÁSKÉPP CSINÁLNÁNK 1"/>
          <p:cNvSpPr/>
          <p:nvPr/>
        </p:nvSpPr>
        <p:spPr>
          <a:xfrm>
            <a:off x="6227064" y="1920240"/>
            <a:ext cx="541324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AMIT LEGKÖZELEBB MÁSKÉPP CSINÁLNÁNK ikon 1 kör"/>
          <p:cNvSpPr/>
          <p:nvPr/>
        </p:nvSpPr>
        <p:spPr>
          <a:xfrm>
            <a:off x="6501384" y="2194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AMIT LEGKÖZELEBB MÁSKÉPP CSINÁLNÁNK ikon 1" descr="AMIT LEGKÖZELEBB MÁSKÉPP CSINÁLNÁNK ik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834" y="2366010"/>
            <a:ext cx="342900" cy="342900"/>
          </a:xfrm>
          <a:prstGeom prst="rect">
            <a:avLst/>
          </a:prstGeom>
        </p:spPr>
      </p:pic>
      <p:sp>
        <p:nvSpPr>
          <p:cNvPr id="20" name="elem"/>
          <p:cNvSpPr txBox="1"/>
          <p:nvPr/>
        </p:nvSpPr>
        <p:spPr>
          <a:xfrm>
            <a:off x="7415784" y="20574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Már az elején egyeztetni az elnevezéseket és a fájlneveket</a:t>
            </a:r>
            <a:endParaRPr lang="en-US" sz="1600" dirty="0"/>
          </a:p>
        </p:txBody>
      </p:sp>
      <p:sp>
        <p:nvSpPr>
          <p:cNvPr id="21" name="AMIT LEGKÖZELEBB MÁSKÉPP CSINÁLNÁNK 2"/>
          <p:cNvSpPr/>
          <p:nvPr/>
        </p:nvSpPr>
        <p:spPr>
          <a:xfrm>
            <a:off x="6227064" y="3383280"/>
            <a:ext cx="541324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AMIT LEGKÖZELEBB MÁSKÉPP CSINÁLNÁNK ikon 2 kör"/>
          <p:cNvSpPr/>
          <p:nvPr/>
        </p:nvSpPr>
        <p:spPr>
          <a:xfrm>
            <a:off x="6501384" y="3657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AMIT LEGKÖZELEBB MÁSKÉPP CSINÁLNÁNK ikon 2" descr="AMIT LEGKÖZELEBB MÁSKÉPP CSINÁLNÁNK ik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834" y="3829050"/>
            <a:ext cx="342900" cy="342900"/>
          </a:xfrm>
          <a:prstGeom prst="rect">
            <a:avLst/>
          </a:prstGeom>
        </p:spPr>
      </p:pic>
      <p:sp>
        <p:nvSpPr>
          <p:cNvPr id="24" name="elem"/>
          <p:cNvSpPr txBox="1"/>
          <p:nvPr/>
        </p:nvSpPr>
        <p:spPr>
          <a:xfrm>
            <a:off x="7415784" y="35204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Közös menü és belépőablak az első naptól</a:t>
            </a:r>
            <a:endParaRPr lang="en-US" sz="1600" dirty="0"/>
          </a:p>
        </p:txBody>
      </p:sp>
      <p:sp>
        <p:nvSpPr>
          <p:cNvPr id="25" name="AMIT LEGKÖZELEBB MÁSKÉPP CSINÁLNÁNK 3"/>
          <p:cNvSpPr/>
          <p:nvPr/>
        </p:nvSpPr>
        <p:spPr>
          <a:xfrm>
            <a:off x="6227064" y="4846320"/>
            <a:ext cx="541324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AMIT LEGKÖZELEBB MÁSKÉPP CSINÁLNÁNK ikon 3 kör"/>
          <p:cNvSpPr/>
          <p:nvPr/>
        </p:nvSpPr>
        <p:spPr>
          <a:xfrm>
            <a:off x="6501384" y="5120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AMIT LEGKÖZELEBB MÁSKÉPP CSINÁLNÁNK ikon 3" descr="AMIT LEGKÖZELEBB MÁSKÉPP CSINÁLNÁNK ik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834" y="5292090"/>
            <a:ext cx="342900" cy="342900"/>
          </a:xfrm>
          <a:prstGeom prst="rect">
            <a:avLst/>
          </a:prstGeom>
        </p:spPr>
      </p:pic>
      <p:sp>
        <p:nvSpPr>
          <p:cNvPr id="28" name="elem"/>
          <p:cNvSpPr txBox="1"/>
          <p:nvPr/>
        </p:nvSpPr>
        <p:spPr>
          <a:xfrm>
            <a:off x="7415784" y="49834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Verziókezelés (Git) az összefésülés megkönnyítésére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ke 04"/>
          <p:cNvSpPr txBox="1"/>
          <p:nvPr/>
        </p:nvSpPr>
        <p:spPr>
          <a:xfrm>
            <a:off x="731520" y="2331720"/>
            <a:ext cx="2194560" cy="192024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46120" y="2514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Mesterséges intelligencia a projektben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324612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Őszintén arról, miben segített az MI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Mit csináltunk mi, és mit az MI?</a:t>
            </a:r>
            <a:endParaRPr lang="en-US" sz="3200" dirty="0"/>
          </a:p>
        </p:txBody>
      </p:sp>
      <p:sp>
        <p:nvSpPr>
          <p:cNvPr id="3" name="elem"/>
          <p:cNvSpPr txBox="1"/>
          <p:nvPr/>
        </p:nvSpPr>
        <p:spPr>
          <a:xfrm>
            <a:off x="548640" y="1417320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3"/>
                </a:solidFill>
              </a:rPr>
              <a:t>A MI MUNKÁNK</a:t>
            </a:r>
            <a:endParaRPr lang="en-US" sz="1400" dirty="0"/>
          </a:p>
        </p:txBody>
      </p:sp>
      <p:sp>
        <p:nvSpPr>
          <p:cNvPr id="4" name="A MI MUNKÁNK 1"/>
          <p:cNvSpPr/>
          <p:nvPr/>
        </p:nvSpPr>
        <p:spPr>
          <a:xfrm>
            <a:off x="548640" y="1874520"/>
            <a:ext cx="5413248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A MI MUNKÁNK ikon 1 kör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A MI MUNKÁNK ikon 1" descr="A MI MUNKÁNK ik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205990"/>
            <a:ext cx="297180" cy="297180"/>
          </a:xfrm>
          <a:prstGeom prst="rect">
            <a:avLst/>
          </a:prstGeom>
        </p:spPr>
      </p:pic>
      <p:sp>
        <p:nvSpPr>
          <p:cNvPr id="7" name="elem"/>
          <p:cNvSpPr txBox="1"/>
          <p:nvPr/>
        </p:nvSpPr>
        <p:spPr>
          <a:xfrm>
            <a:off x="1600200" y="19659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Az oldal ötlete és a három oldal felosztása</a:t>
            </a:r>
            <a:endParaRPr lang="en-US" sz="1500" dirty="0"/>
          </a:p>
        </p:txBody>
      </p:sp>
      <p:sp>
        <p:nvSpPr>
          <p:cNvPr id="8" name="A MI MUNKÁNK 2"/>
          <p:cNvSpPr/>
          <p:nvPr/>
        </p:nvSpPr>
        <p:spPr>
          <a:xfrm>
            <a:off x="548640" y="2990088"/>
            <a:ext cx="5413248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 MI MUNKÁNK ikon 2 kör"/>
          <p:cNvSpPr/>
          <p:nvPr/>
        </p:nvSpPr>
        <p:spPr>
          <a:xfrm>
            <a:off x="777240" y="3172968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A MI MUNKÁNK ikon 2" descr="A MI MUNKÁNK ik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3321558"/>
            <a:ext cx="297180" cy="297180"/>
          </a:xfrm>
          <a:prstGeom prst="rect">
            <a:avLst/>
          </a:prstGeom>
        </p:spPr>
      </p:pic>
      <p:sp>
        <p:nvSpPr>
          <p:cNvPr id="11" name="elem"/>
          <p:cNvSpPr txBox="1"/>
          <p:nvPr/>
        </p:nvSpPr>
        <p:spPr>
          <a:xfrm>
            <a:off x="1600200" y="308152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Az eredeti HTML, CSS és JavaScript a három oldalhoz</a:t>
            </a:r>
            <a:endParaRPr lang="en-US" sz="1500" dirty="0"/>
          </a:p>
        </p:txBody>
      </p:sp>
      <p:sp>
        <p:nvSpPr>
          <p:cNvPr id="12" name="A MI MUNKÁNK 3"/>
          <p:cNvSpPr/>
          <p:nvPr/>
        </p:nvSpPr>
        <p:spPr>
          <a:xfrm>
            <a:off x="548640" y="4105656"/>
            <a:ext cx="5413248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A MI MUNKÁNK ikon 3 kör"/>
          <p:cNvSpPr/>
          <p:nvPr/>
        </p:nvSpPr>
        <p:spPr>
          <a:xfrm>
            <a:off x="777240" y="4288536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A MI MUNKÁNK ikon 3" descr="A MI MUNKÁNK ik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437126"/>
            <a:ext cx="297180" cy="297180"/>
          </a:xfrm>
          <a:prstGeom prst="rect">
            <a:avLst/>
          </a:prstGeom>
        </p:spPr>
      </p:pic>
      <p:sp>
        <p:nvSpPr>
          <p:cNvPr id="15" name="elem"/>
          <p:cNvSpPr txBox="1"/>
          <p:nvPr/>
        </p:nvSpPr>
        <p:spPr>
          <a:xfrm>
            <a:off x="1600200" y="419709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Az osztályok: Jatekos, Csapat, Meccs, Account</a:t>
            </a:r>
            <a:endParaRPr lang="en-US" sz="1500" dirty="0"/>
          </a:p>
        </p:txBody>
      </p:sp>
      <p:sp>
        <p:nvSpPr>
          <p:cNvPr id="16" name="A MI MUNKÁNK 4"/>
          <p:cNvSpPr/>
          <p:nvPr/>
        </p:nvSpPr>
        <p:spPr>
          <a:xfrm>
            <a:off x="548640" y="5221224"/>
            <a:ext cx="5413248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A MI MUNKÁNK ikon 4 kör"/>
          <p:cNvSpPr/>
          <p:nvPr/>
        </p:nvSpPr>
        <p:spPr>
          <a:xfrm>
            <a:off x="777240" y="5404104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A MI MUNKÁNK ikon 4" descr="A MI MUNKÁNK ik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5552694"/>
            <a:ext cx="297180" cy="297180"/>
          </a:xfrm>
          <a:prstGeom prst="rect">
            <a:avLst/>
          </a:prstGeom>
        </p:spPr>
      </p:pic>
      <p:sp>
        <p:nvSpPr>
          <p:cNvPr id="19" name="elem"/>
          <p:cNvSpPr txBox="1"/>
          <p:nvPr/>
        </p:nvSpPr>
        <p:spPr>
          <a:xfrm>
            <a:off x="1600200" y="53126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 </a:t>
            </a:r>
            <a:r>
              <a:rPr lang="en-US" sz="1500" dirty="0" err="1">
                <a:solidFill>
                  <a:schemeClr val="bg1"/>
                </a:solidFill>
              </a:rPr>
              <a:t>végső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döntések</a:t>
            </a:r>
            <a:r>
              <a:rPr lang="en-US" sz="1500" dirty="0">
                <a:solidFill>
                  <a:schemeClr val="bg1"/>
                </a:solidFill>
              </a:rPr>
              <a:t> – pl. </a:t>
            </a:r>
            <a:r>
              <a:rPr lang="en-US" sz="1500" dirty="0" err="1">
                <a:solidFill>
                  <a:schemeClr val="bg1"/>
                </a:solidFill>
              </a:rPr>
              <a:t>az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eredeti</a:t>
            </a:r>
            <a:r>
              <a:rPr lang="en-US" sz="1500" dirty="0">
                <a:solidFill>
                  <a:schemeClr val="bg1"/>
                </a:solidFill>
              </a:rPr>
              <a:t> JS-</a:t>
            </a:r>
            <a:r>
              <a:rPr lang="en-US" sz="1500" dirty="0" err="1">
                <a:solidFill>
                  <a:schemeClr val="bg1"/>
                </a:solidFill>
              </a:rPr>
              <a:t>fájlok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visszaállítása</a:t>
            </a:r>
            <a:endParaRPr lang="en-US" sz="1500" dirty="0"/>
          </a:p>
        </p:txBody>
      </p:sp>
      <p:sp>
        <p:nvSpPr>
          <p:cNvPr id="20" name="elem"/>
          <p:cNvSpPr txBox="1"/>
          <p:nvPr/>
        </p:nvSpPr>
        <p:spPr>
          <a:xfrm>
            <a:off x="6227064" y="1417320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AMIBEN AZ MI SEGÍTETT</a:t>
            </a:r>
            <a:endParaRPr lang="en-US" sz="1400" dirty="0"/>
          </a:p>
        </p:txBody>
      </p:sp>
      <p:sp>
        <p:nvSpPr>
          <p:cNvPr id="21" name="AMIBEN AZ MI SEGÍTETT 1"/>
          <p:cNvSpPr/>
          <p:nvPr/>
        </p:nvSpPr>
        <p:spPr>
          <a:xfrm>
            <a:off x="6227064" y="1874520"/>
            <a:ext cx="5413248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AMIBEN AZ MI SEGÍTETT ikon 1 kör"/>
          <p:cNvSpPr/>
          <p:nvPr/>
        </p:nvSpPr>
        <p:spPr>
          <a:xfrm>
            <a:off x="6455664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AMIBEN AZ MI SEGÍTETT ikon 1" descr="AMIBEN AZ MI SEGÍTETT ik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2205990"/>
            <a:ext cx="297180" cy="297180"/>
          </a:xfrm>
          <a:prstGeom prst="rect">
            <a:avLst/>
          </a:prstGeom>
        </p:spPr>
      </p:pic>
      <p:sp>
        <p:nvSpPr>
          <p:cNvPr id="24" name="elem"/>
          <p:cNvSpPr txBox="1"/>
          <p:nvPr/>
        </p:nvSpPr>
        <p:spPr>
          <a:xfrm>
            <a:off x="7278624" y="19659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 három oldal összefésülése: közös menü, fiókablak, lábléc</a:t>
            </a:r>
            <a:endParaRPr lang="en-US" sz="1500" dirty="0"/>
          </a:p>
        </p:txBody>
      </p:sp>
      <p:sp>
        <p:nvSpPr>
          <p:cNvPr id="25" name="AMIBEN AZ MI SEGÍTETT 2"/>
          <p:cNvSpPr/>
          <p:nvPr/>
        </p:nvSpPr>
        <p:spPr>
          <a:xfrm>
            <a:off x="6227064" y="2990088"/>
            <a:ext cx="5413248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AMIBEN AZ MI SEGÍTETT ikon 2 kör"/>
          <p:cNvSpPr/>
          <p:nvPr/>
        </p:nvSpPr>
        <p:spPr>
          <a:xfrm>
            <a:off x="6455664" y="317296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AMIBEN AZ MI SEGÍTETT ikon 2" descr="AMIBEN AZ MI SEGÍTETT ik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3321558"/>
            <a:ext cx="297180" cy="297180"/>
          </a:xfrm>
          <a:prstGeom prst="rect">
            <a:avLst/>
          </a:prstGeom>
        </p:spPr>
      </p:pic>
      <p:sp>
        <p:nvSpPr>
          <p:cNvPr id="28" name="elem"/>
          <p:cNvSpPr txBox="1"/>
          <p:nvPr/>
        </p:nvSpPr>
        <p:spPr>
          <a:xfrm>
            <a:off x="7278624" y="308152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CSS-</a:t>
            </a:r>
            <a:r>
              <a:rPr lang="en-US" sz="1500" dirty="0" err="1">
                <a:solidFill>
                  <a:schemeClr val="bg1"/>
                </a:solidFill>
              </a:rPr>
              <a:t>hibák</a:t>
            </a:r>
            <a:r>
              <a:rPr lang="en-US" sz="1500" dirty="0">
                <a:solidFill>
                  <a:schemeClr val="bg1"/>
                </a:solidFill>
              </a:rPr>
              <a:t> javítása, mobilos kártyanézet</a:t>
            </a:r>
            <a:endParaRPr lang="en-US" sz="1500" dirty="0"/>
          </a:p>
        </p:txBody>
      </p:sp>
      <p:sp>
        <p:nvSpPr>
          <p:cNvPr id="29" name="AMIBEN AZ MI SEGÍTETT 3"/>
          <p:cNvSpPr/>
          <p:nvPr/>
        </p:nvSpPr>
        <p:spPr>
          <a:xfrm>
            <a:off x="6227064" y="4105656"/>
            <a:ext cx="5413248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MIBEN AZ MI SEGÍTETT ikon 3 kör"/>
          <p:cNvSpPr/>
          <p:nvPr/>
        </p:nvSpPr>
        <p:spPr>
          <a:xfrm>
            <a:off x="6455664" y="4288536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AMIBEN AZ MI SEGÍTETT ikon 3" descr="AMIBEN AZ MI SEGÍTETT ik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4437126"/>
            <a:ext cx="297180" cy="297180"/>
          </a:xfrm>
          <a:prstGeom prst="rect">
            <a:avLst/>
          </a:prstGeom>
        </p:spPr>
      </p:pic>
      <p:sp>
        <p:nvSpPr>
          <p:cNvPr id="32" name="elem"/>
          <p:cNvSpPr txBox="1"/>
          <p:nvPr/>
        </p:nvSpPr>
        <p:spPr>
          <a:xfrm>
            <a:off x="7278624" y="419709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Képek tömörítése, kódformázás, a JS-</a:t>
            </a:r>
            <a:r>
              <a:rPr lang="en-US" sz="1500" dirty="0" err="1">
                <a:solidFill>
                  <a:schemeClr val="bg1"/>
                </a:solidFill>
              </a:rPr>
              <a:t>kód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dokumentálása</a:t>
            </a:r>
            <a:endParaRPr lang="en-US" sz="1500" dirty="0"/>
          </a:p>
        </p:txBody>
      </p:sp>
      <p:sp>
        <p:nvSpPr>
          <p:cNvPr id="33" name="AMIBEN AZ MI SEGÍTETT 4"/>
          <p:cNvSpPr/>
          <p:nvPr/>
        </p:nvSpPr>
        <p:spPr>
          <a:xfrm>
            <a:off x="6227064" y="5221224"/>
            <a:ext cx="5413248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AMIBEN AZ MI SEGÍTETT ikon 4 kör"/>
          <p:cNvSpPr/>
          <p:nvPr/>
        </p:nvSpPr>
        <p:spPr>
          <a:xfrm>
            <a:off x="6455664" y="5404104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AMIBEN AZ MI SEGÍTETT ikon 4" descr="AMIBEN AZ MI SEGÍTETT ik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5552694"/>
            <a:ext cx="297180" cy="297180"/>
          </a:xfrm>
          <a:prstGeom prst="rect">
            <a:avLst/>
          </a:prstGeom>
        </p:spPr>
      </p:pic>
      <p:sp>
        <p:nvSpPr>
          <p:cNvPr id="36" name="elem"/>
          <p:cNvSpPr txBox="1"/>
          <p:nvPr/>
        </p:nvSpPr>
        <p:spPr>
          <a:xfrm>
            <a:off x="7278624" y="53126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500" dirty="0">
                <a:solidFill>
                  <a:schemeClr val="bg1"/>
                </a:solidFill>
              </a:rPr>
              <a:t>A HTML oldalak egységes fordítása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Hogyan használtuk az MI-t?</a:t>
            </a:r>
            <a:endParaRPr lang="en-US" sz="3200" dirty="0"/>
          </a:p>
        </p:txBody>
      </p:sp>
      <p:sp>
        <p:nvSpPr>
          <p:cNvPr id="3" name="MI-használat Az eszköz"/>
          <p:cNvSpPr/>
          <p:nvPr/>
        </p:nvSpPr>
        <p:spPr>
          <a:xfrm>
            <a:off x="548640" y="1508760"/>
            <a:ext cx="54132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z eszköz kör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Az eszköz" descr="Az eszkö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03120"/>
            <a:ext cx="457200" cy="457200"/>
          </a:xfrm>
          <a:prstGeom prst="rect">
            <a:avLst/>
          </a:prstGeom>
        </p:spPr>
      </p:pic>
      <p:sp>
        <p:nvSpPr>
          <p:cNvPr id="6" name="elem"/>
          <p:cNvSpPr txBox="1"/>
          <p:nvPr/>
        </p:nvSpPr>
        <p:spPr>
          <a:xfrm>
            <a:off x="2057400" y="1874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Az eszköz</a:t>
            </a:r>
            <a:endParaRPr lang="en-US" sz="1900" dirty="0"/>
          </a:p>
        </p:txBody>
      </p:sp>
      <p:sp>
        <p:nvSpPr>
          <p:cNvPr id="7" name="elem"/>
          <p:cNvSpPr txBox="1"/>
          <p:nvPr/>
        </p:nvSpPr>
        <p:spPr>
          <a:xfrm>
            <a:off x="2057400" y="235000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Claude (Anthropic) – egy beszélgetésben, ahová feltöltöttük a </a:t>
            </a:r>
            <a:r>
              <a:rPr lang="en-US" sz="1500" dirty="0" err="1">
                <a:solidFill>
                  <a:schemeClr val="bg2"/>
                </a:solidFill>
              </a:rPr>
              <a:t>projekt</a:t>
            </a:r>
            <a:r>
              <a:rPr lang="hu-HU" sz="1500" dirty="0">
                <a:solidFill>
                  <a:schemeClr val="bg2"/>
                </a:solidFill>
              </a:rPr>
              <a:t> kódrészleteit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8" name="MI-használat Konkrét feladatok"/>
          <p:cNvSpPr/>
          <p:nvPr/>
        </p:nvSpPr>
        <p:spPr>
          <a:xfrm>
            <a:off x="6227064" y="1508760"/>
            <a:ext cx="54132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Konkrét feladatok kör"/>
          <p:cNvSpPr/>
          <p:nvPr/>
        </p:nvSpPr>
        <p:spPr>
          <a:xfrm>
            <a:off x="6547104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Konkrét feladatok" descr="Konkrét feladat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103120"/>
            <a:ext cx="457200" cy="457200"/>
          </a:xfrm>
          <a:prstGeom prst="rect">
            <a:avLst/>
          </a:prstGeom>
        </p:spPr>
      </p:pic>
      <p:sp>
        <p:nvSpPr>
          <p:cNvPr id="11" name="elem"/>
          <p:cNvSpPr txBox="1"/>
          <p:nvPr/>
        </p:nvSpPr>
        <p:spPr>
          <a:xfrm>
            <a:off x="7735824" y="18745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Konkrét feladatok</a:t>
            </a:r>
            <a:endParaRPr lang="en-US" sz="1900" dirty="0"/>
          </a:p>
        </p:txBody>
      </p:sp>
      <p:sp>
        <p:nvSpPr>
          <p:cNvPr id="12" name="elem"/>
          <p:cNvSpPr txBox="1"/>
          <p:nvPr/>
        </p:nvSpPr>
        <p:spPr>
          <a:xfrm>
            <a:off x="7735824" y="235000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Pontosan megmondtuk, mit kérünk: összefésülést, fordítást, </a:t>
            </a:r>
            <a:r>
              <a:rPr lang="en-US" sz="1500" dirty="0" err="1">
                <a:solidFill>
                  <a:schemeClr val="bg2"/>
                </a:solidFill>
              </a:rPr>
              <a:t>javítást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MI-használat Ellenőrzés"/>
          <p:cNvSpPr/>
          <p:nvPr/>
        </p:nvSpPr>
        <p:spPr>
          <a:xfrm>
            <a:off x="548640" y="3977640"/>
            <a:ext cx="54132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Ellenőrzés kör"/>
          <p:cNvSpPr/>
          <p:nvPr/>
        </p:nvSpPr>
        <p:spPr>
          <a:xfrm>
            <a:off x="868680" y="4343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Ellenőrzés" descr="Ellenőrzé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572000"/>
            <a:ext cx="457200" cy="457200"/>
          </a:xfrm>
          <a:prstGeom prst="rect">
            <a:avLst/>
          </a:prstGeom>
        </p:spPr>
      </p:pic>
      <p:sp>
        <p:nvSpPr>
          <p:cNvPr id="16" name="elem"/>
          <p:cNvSpPr txBox="1"/>
          <p:nvPr/>
        </p:nvSpPr>
        <p:spPr>
          <a:xfrm>
            <a:off x="2057400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Ellenőrzés</a:t>
            </a:r>
            <a:endParaRPr lang="en-US" sz="1900" dirty="0"/>
          </a:p>
        </p:txBody>
      </p:sp>
      <p:sp>
        <p:nvSpPr>
          <p:cNvPr id="17" name="elem"/>
          <p:cNvSpPr txBox="1"/>
          <p:nvPr/>
        </p:nvSpPr>
        <p:spPr>
          <a:xfrm>
            <a:off x="2057400" y="481888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változtatásokat böngészőben, asztali és mobil nézetben is kipróbáltattuk.</a:t>
            </a:r>
            <a:endParaRPr lang="en-US" sz="1500" dirty="0"/>
          </a:p>
        </p:txBody>
      </p:sp>
      <p:sp>
        <p:nvSpPr>
          <p:cNvPr id="18" name="MI-használat A döntés a miénk"/>
          <p:cNvSpPr/>
          <p:nvPr/>
        </p:nvSpPr>
        <p:spPr>
          <a:xfrm>
            <a:off x="6227064" y="3977640"/>
            <a:ext cx="54132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 döntés a miénk kör"/>
          <p:cNvSpPr/>
          <p:nvPr/>
        </p:nvSpPr>
        <p:spPr>
          <a:xfrm>
            <a:off x="6547104" y="4343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A döntés a miénk" descr="A döntés a mién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4572000"/>
            <a:ext cx="457200" cy="457200"/>
          </a:xfrm>
          <a:prstGeom prst="rect">
            <a:avLst/>
          </a:prstGeom>
        </p:spPr>
      </p:pic>
      <p:sp>
        <p:nvSpPr>
          <p:cNvPr id="21" name="elem"/>
          <p:cNvSpPr txBox="1"/>
          <p:nvPr/>
        </p:nvSpPr>
        <p:spPr>
          <a:xfrm>
            <a:off x="7735824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 döntés a miénk</a:t>
            </a:r>
            <a:endParaRPr lang="en-US" sz="1900" dirty="0"/>
          </a:p>
        </p:txBody>
      </p:sp>
      <p:sp>
        <p:nvSpPr>
          <p:cNvPr id="22" name="elem"/>
          <p:cNvSpPr txBox="1"/>
          <p:nvPr/>
        </p:nvSpPr>
        <p:spPr>
          <a:xfrm>
            <a:off x="7735824" y="481888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Amit nem akartunk, visszavontuk – a </a:t>
            </a:r>
            <a:r>
              <a:rPr lang="hu-HU" sz="1500" dirty="0">
                <a:solidFill>
                  <a:schemeClr val="bg2"/>
                </a:solidFill>
              </a:rPr>
              <a:t>stílus változtatások</a:t>
            </a:r>
            <a:r>
              <a:rPr lang="en-US" sz="1500" dirty="0">
                <a:solidFill>
                  <a:schemeClr val="bg2"/>
                </a:solidFill>
              </a:rPr>
              <a:t> újra az eredetiek.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Mennyi MI van a végleges kódban?</a:t>
            </a:r>
            <a:endParaRPr lang="en-US" sz="3200" dirty="0"/>
          </a:p>
        </p:txBody>
      </p:sp>
      <p:sp>
        <p:nvSpPr>
          <p:cNvPr id="3" name="kördiagram doboz"/>
          <p:cNvSpPr/>
          <p:nvPr/>
        </p:nvSpPr>
        <p:spPr>
          <a:xfrm>
            <a:off x="548640" y="1463040"/>
            <a:ext cx="4480560" cy="4160520"/>
          </a:xfrm>
          <a:prstGeom prst="roundRect">
            <a:avLst>
              <a:gd name="adj" fmla="val 2637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4" name="kördiagram"/>
          <p:cNvGraphicFramePr/>
          <p:nvPr/>
        </p:nvGraphicFramePr>
        <p:xfrm>
          <a:off x="777240" y="1600200"/>
          <a:ext cx="40233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lem"/>
          <p:cNvSpPr txBox="1"/>
          <p:nvPr/>
        </p:nvSpPr>
        <p:spPr>
          <a:xfrm>
            <a:off x="1645920" y="2788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33</a:t>
            </a: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%</a:t>
            </a:r>
            <a:endParaRPr lang="en-US" sz="4000" dirty="0"/>
          </a:p>
        </p:txBody>
      </p:sp>
      <p:sp>
        <p:nvSpPr>
          <p:cNvPr id="6" name="elem"/>
          <p:cNvSpPr txBox="1"/>
          <p:nvPr/>
        </p:nvSpPr>
        <p:spPr>
          <a:xfrm>
            <a:off x="16459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MI</a:t>
            </a:r>
            <a:endParaRPr lang="en-US" sz="1500" dirty="0"/>
          </a:p>
        </p:txBody>
      </p:sp>
      <p:sp>
        <p:nvSpPr>
          <p:cNvPr id="7" name="jelmagyarázat 1"/>
          <p:cNvSpPr/>
          <p:nvPr/>
        </p:nvSpPr>
        <p:spPr>
          <a:xfrm>
            <a:off x="868680" y="49560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elem"/>
          <p:cNvSpPr txBox="1"/>
          <p:nvPr/>
        </p:nvSpPr>
        <p:spPr>
          <a:xfrm>
            <a:off x="118872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Saját kód – </a:t>
            </a:r>
            <a:r>
              <a:rPr lang="hu-HU" sz="1400" dirty="0">
                <a:solidFill>
                  <a:schemeClr val="bg1"/>
                </a:solidFill>
              </a:rPr>
              <a:t>67</a:t>
            </a:r>
            <a:r>
              <a:rPr lang="en-US" sz="1400" dirty="0">
                <a:solidFill>
                  <a:schemeClr val="bg1"/>
                </a:solidFill>
              </a:rPr>
              <a:t>%</a:t>
            </a:r>
            <a:endParaRPr lang="en-US" sz="1400" dirty="0"/>
          </a:p>
        </p:txBody>
      </p:sp>
      <p:sp>
        <p:nvSpPr>
          <p:cNvPr id="9" name="jelmagyarázat 2"/>
          <p:cNvSpPr/>
          <p:nvPr/>
        </p:nvSpPr>
        <p:spPr>
          <a:xfrm>
            <a:off x="868680" y="52852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C55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elem"/>
          <p:cNvSpPr txBox="1"/>
          <p:nvPr/>
        </p:nvSpPr>
        <p:spPr>
          <a:xfrm>
            <a:off x="1188720" y="52303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MI által írt vagy módosított – </a:t>
            </a:r>
            <a:r>
              <a:rPr lang="hu-HU" sz="1400" dirty="0">
                <a:solidFill>
                  <a:schemeClr val="bg1"/>
                </a:solidFill>
              </a:rPr>
              <a:t>33</a:t>
            </a:r>
            <a:r>
              <a:rPr lang="en-US" sz="1400" dirty="0">
                <a:solidFill>
                  <a:schemeClr val="bg1"/>
                </a:solidFill>
              </a:rPr>
              <a:t>%</a:t>
            </a:r>
            <a:endParaRPr lang="en-US" sz="1400" dirty="0"/>
          </a:p>
        </p:txBody>
      </p:sp>
      <p:sp>
        <p:nvSpPr>
          <p:cNvPr id="11" name="oszlopdiagram doboz"/>
          <p:cNvSpPr/>
          <p:nvPr/>
        </p:nvSpPr>
        <p:spPr>
          <a:xfrm>
            <a:off x="5303520" y="1463040"/>
            <a:ext cx="6336792" cy="4160520"/>
          </a:xfrm>
          <a:prstGeom prst="roundRect">
            <a:avLst>
              <a:gd name="adj" fmla="val 2637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elem"/>
          <p:cNvSpPr txBox="1"/>
          <p:nvPr/>
        </p:nvSpPr>
        <p:spPr>
          <a:xfrm>
            <a:off x="5577840" y="1645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Fájltípusonként</a:t>
            </a:r>
            <a:endParaRPr lang="en-US" sz="1700" dirty="0"/>
          </a:p>
        </p:txBody>
      </p:sp>
      <p:graphicFrame>
        <p:nvGraphicFramePr>
          <p:cNvPr id="13" name="oszlopdiagram"/>
          <p:cNvGraphicFramePr/>
          <p:nvPr>
            <p:extLst>
              <p:ext uri="{D42A27DB-BD31-4B8C-83A1-F6EECF244321}">
                <p14:modId xmlns:p14="http://schemas.microsoft.com/office/powerpoint/2010/main" val="2696585692"/>
              </p:ext>
            </p:extLst>
          </p:nvPr>
        </p:nvGraphicFramePr>
        <p:xfrm>
          <a:off x="5440680" y="2057400"/>
          <a:ext cx="6035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MI-arány feladatonként</a:t>
            </a:r>
            <a:endParaRPr lang="en-US" sz="3200" dirty="0"/>
          </a:p>
        </p:txBody>
      </p:sp>
      <p:sp>
        <p:nvSpPr>
          <p:cNvPr id="3" name="feladat diagram doboz"/>
          <p:cNvSpPr/>
          <p:nvPr/>
        </p:nvSpPr>
        <p:spPr>
          <a:xfrm>
            <a:off x="548640" y="1463040"/>
            <a:ext cx="7315200" cy="4892040"/>
          </a:xfrm>
          <a:prstGeom prst="roundRect">
            <a:avLst>
              <a:gd name="adj" fmla="val 2243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4" name="feladat diagram"/>
          <p:cNvGraphicFramePr/>
          <p:nvPr>
            <p:extLst>
              <p:ext uri="{D42A27DB-BD31-4B8C-83A1-F6EECF244321}">
                <p14:modId xmlns:p14="http://schemas.microsoft.com/office/powerpoint/2010/main" val="2850959570"/>
              </p:ext>
            </p:extLst>
          </p:nvPr>
        </p:nvGraphicFramePr>
        <p:xfrm>
          <a:off x="685800" y="1600200"/>
          <a:ext cx="704088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agyarázat 1"/>
          <p:cNvSpPr/>
          <p:nvPr/>
        </p:nvSpPr>
        <p:spPr>
          <a:xfrm>
            <a:off x="8138160" y="1463040"/>
            <a:ext cx="3502152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elem"/>
          <p:cNvSpPr txBox="1"/>
          <p:nvPr/>
        </p:nvSpPr>
        <p:spPr>
          <a:xfrm>
            <a:off x="8366760" y="1645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0%</a:t>
            </a:r>
            <a:endParaRPr lang="en-US" sz="3600" dirty="0"/>
          </a:p>
        </p:txBody>
      </p:sp>
      <p:sp>
        <p:nvSpPr>
          <p:cNvPr id="7" name="elem"/>
          <p:cNvSpPr txBox="1"/>
          <p:nvPr/>
        </p:nvSpPr>
        <p:spPr>
          <a:xfrm>
            <a:off x="8366760" y="23774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Az ötlet, a felosztás és a feltöltött eredeti kód a miénk – erről csak a saját beszámolónk alapján tudunk nyilatkozni.</a:t>
            </a:r>
            <a:endParaRPr lang="en-US" sz="1400" dirty="0"/>
          </a:p>
        </p:txBody>
      </p:sp>
      <p:sp>
        <p:nvSpPr>
          <p:cNvPr id="8" name="magyarázat 2"/>
          <p:cNvSpPr/>
          <p:nvPr/>
        </p:nvSpPr>
        <p:spPr>
          <a:xfrm>
            <a:off x="8138160" y="3977640"/>
            <a:ext cx="3502152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elem"/>
          <p:cNvSpPr txBox="1"/>
          <p:nvPr/>
        </p:nvSpPr>
        <p:spPr>
          <a:xfrm>
            <a:off x="8366760" y="4160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elem"/>
          <p:cNvSpPr txBox="1"/>
          <p:nvPr/>
        </p:nvSpPr>
        <p:spPr>
          <a:xfrm>
            <a:off x="8366760" y="48920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kód dokumentációját és ezt a bemutatót teljes egészében az MI készítette, a mi kéréseink alapján.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Kihívások és megoldások</a:t>
            </a:r>
            <a:endParaRPr lang="en-US" sz="3200" dirty="0"/>
          </a:p>
        </p:txBody>
      </p:sp>
      <p:sp>
        <p:nvSpPr>
          <p:cNvPr id="3" name="elem"/>
          <p:cNvSpPr txBox="1"/>
          <p:nvPr/>
        </p:nvSpPr>
        <p:spPr>
          <a:xfrm>
            <a:off x="548640" y="1325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bg2"/>
                </a:solidFill>
              </a:rPr>
              <a:t>KIHÍVÁS</a:t>
            </a:r>
            <a:endParaRPr lang="en-US" sz="1300" dirty="0"/>
          </a:p>
        </p:txBody>
      </p:sp>
      <p:sp>
        <p:nvSpPr>
          <p:cNvPr id="4" name="elem"/>
          <p:cNvSpPr txBox="1"/>
          <p:nvPr/>
        </p:nvSpPr>
        <p:spPr>
          <a:xfrm>
            <a:off x="6519672" y="1325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MEGOLDÁS</a:t>
            </a:r>
            <a:endParaRPr lang="en-US" sz="1300" dirty="0"/>
          </a:p>
        </p:txBody>
      </p:sp>
      <p:sp>
        <p:nvSpPr>
          <p:cNvPr id="5" name="kihívás 1"/>
          <p:cNvSpPr/>
          <p:nvPr/>
        </p:nvSpPr>
        <p:spPr>
          <a:xfrm>
            <a:off x="548640" y="1737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kihívás ikon 1 kör"/>
          <p:cNvSpPr/>
          <p:nvPr/>
        </p:nvSpPr>
        <p:spPr>
          <a:xfrm>
            <a:off x="749808" y="19202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kihívás ikon 1" descr="kihívás ik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57400"/>
            <a:ext cx="274320" cy="274320"/>
          </a:xfrm>
          <a:prstGeom prst="rect">
            <a:avLst/>
          </a:prstGeom>
        </p:spPr>
      </p:pic>
      <p:sp>
        <p:nvSpPr>
          <p:cNvPr id="8" name="elem"/>
          <p:cNvSpPr txBox="1"/>
          <p:nvPr/>
        </p:nvSpPr>
        <p:spPr>
          <a:xfrm>
            <a:off x="1463040" y="18288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Háromféle menü és belépőablak</a:t>
            </a:r>
            <a:endParaRPr lang="en-US" sz="1500" dirty="0"/>
          </a:p>
        </p:txBody>
      </p:sp>
      <p:pic>
        <p:nvPicPr>
          <p:cNvPr id="9" name="nyíl 1" descr="nyí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984248"/>
            <a:ext cx="420624" cy="420624"/>
          </a:xfrm>
          <a:prstGeom prst="rect">
            <a:avLst/>
          </a:prstGeom>
        </p:spPr>
      </p:pic>
      <p:sp>
        <p:nvSpPr>
          <p:cNvPr id="10" name="megoldás 1"/>
          <p:cNvSpPr/>
          <p:nvPr/>
        </p:nvSpPr>
        <p:spPr>
          <a:xfrm>
            <a:off x="6519672" y="1737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megoldás ikon 1 kör"/>
          <p:cNvSpPr/>
          <p:nvPr/>
        </p:nvSpPr>
        <p:spPr>
          <a:xfrm>
            <a:off x="6720840" y="1920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megoldás ikon 1" descr="megoldás iko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057400"/>
            <a:ext cx="274320" cy="274320"/>
          </a:xfrm>
          <a:prstGeom prst="rect">
            <a:avLst/>
          </a:prstGeom>
        </p:spPr>
      </p:pic>
      <p:sp>
        <p:nvSpPr>
          <p:cNvPr id="13" name="elem"/>
          <p:cNvSpPr txBox="1"/>
          <p:nvPr/>
        </p:nvSpPr>
        <p:spPr>
          <a:xfrm>
            <a:off x="7434072" y="18288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Egy közös navigáció és fiókablak minden oldalon</a:t>
            </a:r>
            <a:endParaRPr lang="en-US" sz="1500" dirty="0"/>
          </a:p>
        </p:txBody>
      </p:sp>
      <p:sp>
        <p:nvSpPr>
          <p:cNvPr id="14" name="kihívás 2"/>
          <p:cNvSpPr/>
          <p:nvPr/>
        </p:nvSpPr>
        <p:spPr>
          <a:xfrm>
            <a:off x="548640" y="2880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kihívás ikon 2 kör"/>
          <p:cNvSpPr/>
          <p:nvPr/>
        </p:nvSpPr>
        <p:spPr>
          <a:xfrm>
            <a:off x="749808" y="30632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kihívás ikon 2" descr="kihívás ik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200400"/>
            <a:ext cx="274320" cy="274320"/>
          </a:xfrm>
          <a:prstGeom prst="rect">
            <a:avLst/>
          </a:prstGeom>
        </p:spPr>
      </p:pic>
      <p:sp>
        <p:nvSpPr>
          <p:cNvPr id="17" name="elem"/>
          <p:cNvSpPr txBox="1"/>
          <p:nvPr/>
        </p:nvSpPr>
        <p:spPr>
          <a:xfrm>
            <a:off x="1463040" y="29718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 Játékosok oldalon hibát dobott a belépés</a:t>
            </a:r>
            <a:endParaRPr lang="en-US" sz="1500" dirty="0"/>
          </a:p>
        </p:txBody>
      </p:sp>
      <p:pic>
        <p:nvPicPr>
          <p:cNvPr id="18" name="nyíl 2" descr="nyíl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127248"/>
            <a:ext cx="420624" cy="420624"/>
          </a:xfrm>
          <a:prstGeom prst="rect">
            <a:avLst/>
          </a:prstGeom>
        </p:spPr>
      </p:pic>
      <p:sp>
        <p:nvSpPr>
          <p:cNvPr id="19" name="megoldás 2"/>
          <p:cNvSpPr/>
          <p:nvPr/>
        </p:nvSpPr>
        <p:spPr>
          <a:xfrm>
            <a:off x="6519672" y="2880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megoldás ikon 2 kör"/>
          <p:cNvSpPr/>
          <p:nvPr/>
        </p:nvSpPr>
        <p:spPr>
          <a:xfrm>
            <a:off x="6720840" y="3063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megoldás ikon 2" descr="megoldás iko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200400"/>
            <a:ext cx="274320" cy="274320"/>
          </a:xfrm>
          <a:prstGeom prst="rect">
            <a:avLst/>
          </a:prstGeom>
        </p:spPr>
      </p:pic>
      <p:sp>
        <p:nvSpPr>
          <p:cNvPr id="22" name="elem"/>
          <p:cNvSpPr txBox="1"/>
          <p:nvPr/>
        </p:nvSpPr>
        <p:spPr>
          <a:xfrm>
            <a:off x="7434072" y="29718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 fiókablak minden oldalra bekerült</a:t>
            </a:r>
            <a:endParaRPr lang="en-US" sz="1500" dirty="0"/>
          </a:p>
        </p:txBody>
      </p:sp>
      <p:sp>
        <p:nvSpPr>
          <p:cNvPr id="23" name="kihívás 3"/>
          <p:cNvSpPr/>
          <p:nvPr/>
        </p:nvSpPr>
        <p:spPr>
          <a:xfrm>
            <a:off x="548640" y="4023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kihívás ikon 3 kör"/>
          <p:cNvSpPr/>
          <p:nvPr/>
        </p:nvSpPr>
        <p:spPr>
          <a:xfrm>
            <a:off x="749808" y="42062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kihívás ikon 3" descr="kihívás ik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343400"/>
            <a:ext cx="274320" cy="274320"/>
          </a:xfrm>
          <a:prstGeom prst="rect">
            <a:avLst/>
          </a:prstGeom>
        </p:spPr>
      </p:pic>
      <p:sp>
        <p:nvSpPr>
          <p:cNvPr id="26" name="elem"/>
          <p:cNvSpPr txBox="1"/>
          <p:nvPr/>
        </p:nvSpPr>
        <p:spPr>
          <a:xfrm>
            <a:off x="1463040" y="41148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Mobilon szétcsúszott a játékostáblázat</a:t>
            </a:r>
            <a:endParaRPr lang="en-US" sz="1500" dirty="0"/>
          </a:p>
        </p:txBody>
      </p:sp>
      <p:pic>
        <p:nvPicPr>
          <p:cNvPr id="27" name="nyíl 3" descr="nyíl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4270248"/>
            <a:ext cx="420624" cy="420624"/>
          </a:xfrm>
          <a:prstGeom prst="rect">
            <a:avLst/>
          </a:prstGeom>
        </p:spPr>
      </p:pic>
      <p:sp>
        <p:nvSpPr>
          <p:cNvPr id="28" name="megoldás 3"/>
          <p:cNvSpPr/>
          <p:nvPr/>
        </p:nvSpPr>
        <p:spPr>
          <a:xfrm>
            <a:off x="6519672" y="4023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megoldás ikon 3 kör"/>
          <p:cNvSpPr/>
          <p:nvPr/>
        </p:nvSpPr>
        <p:spPr>
          <a:xfrm>
            <a:off x="6720840" y="4206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megoldás ikon 3" descr="megoldás ik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343400"/>
            <a:ext cx="274320" cy="274320"/>
          </a:xfrm>
          <a:prstGeom prst="rect">
            <a:avLst/>
          </a:prstGeom>
        </p:spPr>
      </p:pic>
      <p:sp>
        <p:nvSpPr>
          <p:cNvPr id="31" name="elem"/>
          <p:cNvSpPr txBox="1"/>
          <p:nvPr/>
        </p:nvSpPr>
        <p:spPr>
          <a:xfrm>
            <a:off x="7434072" y="41148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Kártyás nézet kisebb képernyőn</a:t>
            </a:r>
            <a:endParaRPr lang="en-US" sz="1500" dirty="0"/>
          </a:p>
        </p:txBody>
      </p:sp>
      <p:sp>
        <p:nvSpPr>
          <p:cNvPr id="32" name="kihívás 4"/>
          <p:cNvSpPr/>
          <p:nvPr/>
        </p:nvSpPr>
        <p:spPr>
          <a:xfrm>
            <a:off x="548640" y="5166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kihívás ikon 4 kör"/>
          <p:cNvSpPr/>
          <p:nvPr/>
        </p:nvSpPr>
        <p:spPr>
          <a:xfrm>
            <a:off x="749808" y="53492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kihívás ikon 4" descr="kihívás ik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486400"/>
            <a:ext cx="274320" cy="274320"/>
          </a:xfrm>
          <a:prstGeom prst="rect">
            <a:avLst/>
          </a:prstGeom>
        </p:spPr>
      </p:pic>
      <p:sp>
        <p:nvSpPr>
          <p:cNvPr id="35" name="elem"/>
          <p:cNvSpPr txBox="1"/>
          <p:nvPr/>
        </p:nvSpPr>
        <p:spPr>
          <a:xfrm>
            <a:off x="1463040" y="52578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Nehéz, lassan betöltő képek</a:t>
            </a:r>
            <a:endParaRPr lang="en-US" sz="1500" dirty="0"/>
          </a:p>
        </p:txBody>
      </p:sp>
      <p:pic>
        <p:nvPicPr>
          <p:cNvPr id="36" name="nyíl 4" descr="nyíl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5413248"/>
            <a:ext cx="420624" cy="420624"/>
          </a:xfrm>
          <a:prstGeom prst="rect">
            <a:avLst/>
          </a:prstGeom>
        </p:spPr>
      </p:pic>
      <p:sp>
        <p:nvSpPr>
          <p:cNvPr id="37" name="megoldás 4"/>
          <p:cNvSpPr/>
          <p:nvPr/>
        </p:nvSpPr>
        <p:spPr>
          <a:xfrm>
            <a:off x="6519672" y="5166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megoldás ikon 4 kör"/>
          <p:cNvSpPr/>
          <p:nvPr/>
        </p:nvSpPr>
        <p:spPr>
          <a:xfrm>
            <a:off x="6720840" y="53492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megoldás ikon 4" descr="megoldás ik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5486400"/>
            <a:ext cx="274320" cy="274320"/>
          </a:xfrm>
          <a:prstGeom prst="rect">
            <a:avLst/>
          </a:prstGeom>
        </p:spPr>
      </p:pic>
      <p:sp>
        <p:nvSpPr>
          <p:cNvPr id="40" name="elem"/>
          <p:cNvSpPr txBox="1"/>
          <p:nvPr/>
        </p:nvSpPr>
        <p:spPr>
          <a:xfrm>
            <a:off x="7434072" y="52578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Tömörített háttér és logó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7" grpId="0" animBg="1"/>
      <p:bldP spid="38" grpId="0" animBg="1"/>
      <p:bldP spid="4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u-HU" sz="3200" b="1" dirty="0">
                <a:solidFill>
                  <a:schemeClr val="bg1"/>
                </a:solidFill>
              </a:rPr>
              <a:t>Mit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hu-HU" sz="3200" b="1" dirty="0">
                <a:solidFill>
                  <a:schemeClr val="bg1"/>
                </a:solidFill>
              </a:rPr>
              <a:t>lehetne fejleszteni</a:t>
            </a:r>
            <a:r>
              <a:rPr lang="en-US" sz="3200" b="1" dirty="0">
                <a:solidFill>
                  <a:schemeClr val="bg1"/>
                </a:solidFill>
              </a:rPr>
              <a:t>?</a:t>
            </a:r>
            <a:endParaRPr lang="en-US" sz="3200" dirty="0"/>
          </a:p>
        </p:txBody>
      </p:sp>
      <p:sp>
        <p:nvSpPr>
          <p:cNvPr id="3" name="idővonal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aját backend kör"/>
          <p:cNvSpPr/>
          <p:nvPr/>
        </p:nvSpPr>
        <p:spPr>
          <a:xfrm>
            <a:off x="141732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Saját backend" descr="Saját back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824" y="1842516"/>
            <a:ext cx="457200" cy="457200"/>
          </a:xfrm>
          <a:prstGeom prst="rect">
            <a:avLst/>
          </a:prstGeom>
        </p:spPr>
      </p:pic>
      <p:sp>
        <p:nvSpPr>
          <p:cNvPr id="6" name="szár 1"/>
          <p:cNvSpPr/>
          <p:nvPr/>
        </p:nvSpPr>
        <p:spPr>
          <a:xfrm>
            <a:off x="1874520" y="2514600"/>
            <a:ext cx="0" cy="7315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nt 1"/>
          <p:cNvSpPr/>
          <p:nvPr/>
        </p:nvSpPr>
        <p:spPr>
          <a:xfrm>
            <a:off x="1764792" y="313639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rv Saját backend"/>
          <p:cNvSpPr/>
          <p:nvPr/>
        </p:nvSpPr>
        <p:spPr>
          <a:xfrm>
            <a:off x="612648" y="3703320"/>
            <a:ext cx="2523744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címke 1"/>
          <p:cNvSpPr txBox="1"/>
          <p:nvPr/>
        </p:nvSpPr>
        <p:spPr>
          <a:xfrm>
            <a:off x="841248" y="3931920"/>
            <a:ext cx="685800" cy="41148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elem"/>
          <p:cNvSpPr txBox="1"/>
          <p:nvPr/>
        </p:nvSpPr>
        <p:spPr>
          <a:xfrm>
            <a:off x="841248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Saját backend</a:t>
            </a:r>
            <a:endParaRPr lang="en-US" sz="1800" dirty="0"/>
          </a:p>
        </p:txBody>
      </p:sp>
      <p:sp>
        <p:nvSpPr>
          <p:cNvPr id="11" name="elem"/>
          <p:cNvSpPr txBox="1"/>
          <p:nvPr/>
        </p:nvSpPr>
        <p:spPr>
          <a:xfrm>
            <a:off x="841248" y="491947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Adatbázis, és a belépés oldalváltás után is megmarad</a:t>
            </a:r>
            <a:endParaRPr lang="en-US" sz="1400" dirty="0"/>
          </a:p>
        </p:txBody>
      </p:sp>
      <p:sp>
        <p:nvSpPr>
          <p:cNvPr id="12" name="Élő adatok kör"/>
          <p:cNvSpPr/>
          <p:nvPr/>
        </p:nvSpPr>
        <p:spPr>
          <a:xfrm>
            <a:off x="4233672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Élő adatok" descr="Élő adato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828800"/>
            <a:ext cx="457200" cy="457200"/>
          </a:xfrm>
          <a:prstGeom prst="rect">
            <a:avLst/>
          </a:prstGeom>
        </p:spPr>
      </p:pic>
      <p:sp>
        <p:nvSpPr>
          <p:cNvPr id="14" name="szár 2"/>
          <p:cNvSpPr/>
          <p:nvPr/>
        </p:nvSpPr>
        <p:spPr>
          <a:xfrm>
            <a:off x="4690872" y="2514600"/>
            <a:ext cx="0" cy="7315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ont 2"/>
          <p:cNvSpPr/>
          <p:nvPr/>
        </p:nvSpPr>
        <p:spPr>
          <a:xfrm>
            <a:off x="4581144" y="313639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rv Élő adatok"/>
          <p:cNvSpPr/>
          <p:nvPr/>
        </p:nvSpPr>
        <p:spPr>
          <a:xfrm>
            <a:off x="3429000" y="3703320"/>
            <a:ext cx="2523744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címke 2"/>
          <p:cNvSpPr txBox="1"/>
          <p:nvPr/>
        </p:nvSpPr>
        <p:spPr>
          <a:xfrm>
            <a:off x="3657600" y="3931920"/>
            <a:ext cx="685800" cy="41148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elem"/>
          <p:cNvSpPr txBox="1"/>
          <p:nvPr/>
        </p:nvSpPr>
        <p:spPr>
          <a:xfrm>
            <a:off x="365760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Élő adatok</a:t>
            </a:r>
            <a:endParaRPr lang="en-US" sz="1800" dirty="0"/>
          </a:p>
        </p:txBody>
      </p:sp>
      <p:sp>
        <p:nvSpPr>
          <p:cNvPr id="19" name="elem"/>
          <p:cNvSpPr txBox="1"/>
          <p:nvPr/>
        </p:nvSpPr>
        <p:spPr>
          <a:xfrm>
            <a:off x="3657600" y="491947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Valódi meccseredmények automatikusan, API-ból</a:t>
            </a:r>
            <a:endParaRPr lang="en-US" sz="1400" dirty="0"/>
          </a:p>
        </p:txBody>
      </p:sp>
      <p:sp>
        <p:nvSpPr>
          <p:cNvPr id="20" name="Több játék kör"/>
          <p:cNvSpPr/>
          <p:nvPr/>
        </p:nvSpPr>
        <p:spPr>
          <a:xfrm>
            <a:off x="7050024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Több játék" descr="Több játé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1828800"/>
            <a:ext cx="457200" cy="457200"/>
          </a:xfrm>
          <a:prstGeom prst="rect">
            <a:avLst/>
          </a:prstGeom>
        </p:spPr>
      </p:pic>
      <p:sp>
        <p:nvSpPr>
          <p:cNvPr id="22" name="szár 3"/>
          <p:cNvSpPr/>
          <p:nvPr/>
        </p:nvSpPr>
        <p:spPr>
          <a:xfrm>
            <a:off x="7507224" y="2514600"/>
            <a:ext cx="0" cy="7315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ont 3"/>
          <p:cNvSpPr/>
          <p:nvPr/>
        </p:nvSpPr>
        <p:spPr>
          <a:xfrm>
            <a:off x="7397496" y="313639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rv Több játék"/>
          <p:cNvSpPr/>
          <p:nvPr/>
        </p:nvSpPr>
        <p:spPr>
          <a:xfrm>
            <a:off x="6245352" y="3703320"/>
            <a:ext cx="2523744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címke 3"/>
          <p:cNvSpPr txBox="1"/>
          <p:nvPr/>
        </p:nvSpPr>
        <p:spPr>
          <a:xfrm>
            <a:off x="6473952" y="3931920"/>
            <a:ext cx="685800" cy="41148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elem"/>
          <p:cNvSpPr txBox="1"/>
          <p:nvPr/>
        </p:nvSpPr>
        <p:spPr>
          <a:xfrm>
            <a:off x="6473952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Több játék</a:t>
            </a:r>
            <a:endParaRPr lang="en-US" sz="1800" dirty="0"/>
          </a:p>
        </p:txBody>
      </p:sp>
      <p:sp>
        <p:nvSpPr>
          <p:cNvPr id="27" name="elem"/>
          <p:cNvSpPr txBox="1"/>
          <p:nvPr/>
        </p:nvSpPr>
        <p:spPr>
          <a:xfrm>
            <a:off x="6473952" y="491947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Valorant, League of Legends és Dota 2</a:t>
            </a:r>
            <a:endParaRPr lang="en-US" sz="1400" dirty="0"/>
          </a:p>
        </p:txBody>
      </p:sp>
      <p:sp>
        <p:nvSpPr>
          <p:cNvPr id="28" name="Értesítések kör"/>
          <p:cNvSpPr/>
          <p:nvPr/>
        </p:nvSpPr>
        <p:spPr>
          <a:xfrm>
            <a:off x="9866376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Értesítések" descr="Értesítése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76" y="1828800"/>
            <a:ext cx="457200" cy="457200"/>
          </a:xfrm>
          <a:prstGeom prst="rect">
            <a:avLst/>
          </a:prstGeom>
        </p:spPr>
      </p:pic>
      <p:sp>
        <p:nvSpPr>
          <p:cNvPr id="30" name="szár 4"/>
          <p:cNvSpPr/>
          <p:nvPr/>
        </p:nvSpPr>
        <p:spPr>
          <a:xfrm>
            <a:off x="10323576" y="2514600"/>
            <a:ext cx="0" cy="73152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pont 4"/>
          <p:cNvSpPr/>
          <p:nvPr/>
        </p:nvSpPr>
        <p:spPr>
          <a:xfrm>
            <a:off x="10213848" y="313639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rv Értesítések"/>
          <p:cNvSpPr/>
          <p:nvPr/>
        </p:nvSpPr>
        <p:spPr>
          <a:xfrm>
            <a:off x="9061704" y="3703320"/>
            <a:ext cx="2523744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  <a:effectLst>
            <a:outerShdw blurRad="177800" dist="508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címke 4"/>
          <p:cNvSpPr txBox="1"/>
          <p:nvPr/>
        </p:nvSpPr>
        <p:spPr>
          <a:xfrm>
            <a:off x="9290304" y="3931920"/>
            <a:ext cx="685800" cy="411480"/>
          </a:xfrm>
          <a:prstGeom prst="parallelogram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elem"/>
          <p:cNvSpPr txBox="1"/>
          <p:nvPr/>
        </p:nvSpPr>
        <p:spPr>
          <a:xfrm>
            <a:off x="9290304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Értesítések</a:t>
            </a:r>
            <a:endParaRPr lang="en-US" sz="1800" dirty="0"/>
          </a:p>
        </p:txBody>
      </p:sp>
      <p:sp>
        <p:nvSpPr>
          <p:cNvPr id="35" name="elem"/>
          <p:cNvSpPr txBox="1"/>
          <p:nvPr/>
        </p:nvSpPr>
        <p:spPr>
          <a:xfrm>
            <a:off x="9290304" y="491947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Hírlevél és üzenet a kedvenc csapat meccseiről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tify logó" descr="Statify log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188720"/>
            <a:ext cx="2194560" cy="146304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30632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Köszönjük a figyelmet!</a:t>
            </a:r>
            <a:endParaRPr lang="en-US" sz="4800" dirty="0"/>
          </a:p>
        </p:txBody>
      </p:sp>
      <p:sp>
        <p:nvSpPr>
          <p:cNvPr id="4" name="elem"/>
          <p:cNvSpPr txBox="1"/>
          <p:nvPr/>
        </p:nvSpPr>
        <p:spPr>
          <a:xfrm>
            <a:off x="914400" y="416052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Kérdések?</a:t>
            </a:r>
            <a:endParaRPr lang="en-US" sz="2600" dirty="0"/>
          </a:p>
        </p:txBody>
      </p:sp>
      <p:sp>
        <p:nvSpPr>
          <p:cNvPr id="5" name="elem"/>
          <p:cNvSpPr txBox="1"/>
          <p:nvPr/>
        </p:nvSpPr>
        <p:spPr>
          <a:xfrm>
            <a:off x="914400" y="49834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2"/>
                </a:solidFill>
              </a:rPr>
              <a:t>Zoltán  •  Zsolt  •  Zalán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Statify">
  <a:themeElements>
    <a:clrScheme name="Statify">
      <a:dk1>
        <a:srgbClr val="0D0D0D"/>
      </a:dk1>
      <a:lt1>
        <a:srgbClr val="FFFFFF"/>
      </a:lt1>
      <a:dk2>
        <a:srgbClr val="1C1C1C"/>
      </a:dk2>
      <a:lt2>
        <a:srgbClr val="B9B9B9"/>
      </a:lt2>
      <a:accent1>
        <a:srgbClr val="EC551E"/>
      </a:accent1>
      <a:accent2>
        <a:srgbClr val="FFB020"/>
      </a:accent2>
      <a:accent3>
        <a:srgbClr val="4CD37B"/>
      </a:accent3>
      <a:accent4>
        <a:srgbClr val="FF5A4F"/>
      </a:accent4>
      <a:accent5>
        <a:srgbClr val="AC380D"/>
      </a:accent5>
      <a:accent6>
        <a:srgbClr val="9A9A9A"/>
      </a:accent6>
      <a:hlink>
        <a:srgbClr val="EC551E"/>
      </a:hlink>
      <a:folHlink>
        <a:srgbClr val="AC380D"/>
      </a:folHlink>
    </a:clrScheme>
    <a:fontScheme name="Statif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2585</Words>
  <Application>Microsoft Office PowerPoint</Application>
  <PresentationFormat>Szélesvásznú</PresentationFormat>
  <Paragraphs>373</Paragraphs>
  <Slides>29</Slides>
  <Notes>29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29</vt:i4>
      </vt:variant>
    </vt:vector>
  </HeadingPairs>
  <TitlesOfParts>
    <vt:vector size="32" baseType="lpstr">
      <vt:lpstr>Arial</vt:lpstr>
      <vt:lpstr>Courier New</vt:lpstr>
      <vt:lpstr>Statify</vt:lpstr>
      <vt:lpstr>STATIFY</vt:lpstr>
      <vt:lpstr>Tartalomjegyzék</vt:lpstr>
      <vt:lpstr>Miről szól a Statify?</vt:lpstr>
      <vt:lpstr>A csapat: három Z, egy cél</vt:lpstr>
      <vt:lpstr>Körbevezetés az oldalon</vt:lpstr>
      <vt:lpstr>Egy közös keret, három oldal</vt:lpstr>
      <vt:lpstr>Főoldal – az első benyomás</vt:lpstr>
      <vt:lpstr>Játékosok – a csapatkezelő</vt:lpstr>
      <vt:lpstr>Játékos adatlap és értékelés</vt:lpstr>
      <vt:lpstr>Meccsek – minden egy idővonalon</vt:lpstr>
      <vt:lpstr>Regisztráció és bejelentkezés</vt:lpstr>
      <vt:lpstr>A motorháztető alatt</vt:lpstr>
      <vt:lpstr>Amivel készült</vt:lpstr>
      <vt:lpstr>Osztálymodell</vt:lpstr>
      <vt:lpstr>Mobilon is teljes értékű</vt:lpstr>
      <vt:lpstr>A projekt számokban</vt:lpstr>
      <vt:lpstr>Csapatmunka</vt:lpstr>
      <vt:lpstr>Így dolgoztunk</vt:lpstr>
      <vt:lpstr>Ki kivel dolgozott?</vt:lpstr>
      <vt:lpstr>Közös szabályaink</vt:lpstr>
      <vt:lpstr>Mit tanultunk a csapatmunkából?</vt:lpstr>
      <vt:lpstr>Mesterséges intelligencia a projektben</vt:lpstr>
      <vt:lpstr>Mit csináltunk mi, és mit az MI?</vt:lpstr>
      <vt:lpstr>Hogyan használtuk az MI-t?</vt:lpstr>
      <vt:lpstr>Mennyi MI van a végleges kódban?</vt:lpstr>
      <vt:lpstr>MI-arány feladatonként</vt:lpstr>
      <vt:lpstr>Kihívások és megoldások</vt:lpstr>
      <vt:lpstr>Mit lehetne fejleszteni?</vt:lpstr>
      <vt:lpstr>Köszönjük a figyelmet!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Statify – projektbemutató</dc:title>
  <dc:subject>Statify e-sport weboldal</dc:subject>
  <dc:creator>Zoltán, Zsolt, Zalán</dc:creator>
  <cp:lastModifiedBy>Zoltan Rozsa</cp:lastModifiedBy>
  <cp:revision>8</cp:revision>
  <dcterms:created xsi:type="dcterms:W3CDTF">2026-10-13T18:36:32Z</dcterms:created>
  <dcterms:modified xsi:type="dcterms:W3CDTF">2026-10-13T19:09:00Z</dcterms:modified>
</cp:coreProperties>
</file>